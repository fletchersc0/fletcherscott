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69" r:id="rId4"/>
    <p:sldId id="286" r:id="rId5"/>
    <p:sldId id="270" r:id="rId6"/>
    <p:sldId id="283" r:id="rId7"/>
    <p:sldId id="280" r:id="rId8"/>
    <p:sldId id="284" r:id="rId9"/>
    <p:sldId id="290" r:id="rId10"/>
    <p:sldId id="291" r:id="rId11"/>
    <p:sldId id="295" r:id="rId12"/>
    <p:sldId id="296" r:id="rId13"/>
    <p:sldId id="293" r:id="rId14"/>
    <p:sldId id="294" r:id="rId15"/>
    <p:sldId id="2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047" autoAdjust="0"/>
  </p:normalViewPr>
  <p:slideViewPr>
    <p:cSldViewPr snapToGrid="0">
      <p:cViewPr>
        <p:scale>
          <a:sx n="60" d="100"/>
          <a:sy n="60" d="100"/>
        </p:scale>
        <p:origin x="72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ECACA-E9CD-41E2-92B5-46BD353655A1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41D4F-B37C-4E65-BB22-255F53B6EA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2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TAKE 15 minutes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439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3948-0FC7-E263-9A39-0966FB3A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4D459-91F2-3B9A-5BCB-FB89493C2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883CA-3A66-A4B8-B24D-D959A7669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TAKE 15 minutes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C03FD-2734-CF6D-408D-AB3368658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047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4DB7-342D-6188-8358-AB514C9F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F2A43-A5A5-CD8C-E175-35B3AA2CF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BDB39-5268-5ADD-8026-FC3EAA9E3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TAKE 15 minutes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3B2B9-F10E-1F3D-8B64-473805D1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488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E690-9ED0-FBD4-8AE2-DAF97701E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3E11C-AF66-9BCA-EBFB-C26C54B5A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0308-1915-CB78-328C-696493FB3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TAKE 15 minutes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481CD-CA34-5E7E-526D-1AAC70D79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516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536D-D23E-FCAB-B22C-C67C2EBC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CD6F2-947F-F41C-BC1B-4E26DA40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B77C9-1C11-6953-195E-D256725FA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TAKE 15 minutes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3BF3B-04E2-C1C2-189E-8CCA67A76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22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CB97-1BC8-D6FB-FCAD-30019182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74B1A-CEC6-E05E-1767-E5E91C1C7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40298-2C5D-39DE-CFB2-88D5D77B7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we capture these dimensions?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93D8E-AAB6-E1D6-924D-B47C74A64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690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41D4F-B37C-4E65-BB22-255F53B6EA5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8498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41CC-3ED3-28D0-95F3-2B03665FF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E8356-1662-4CD7-B02A-720BF6155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A9846-B2F5-46D7-0D0D-9595758A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BDA84-6A1A-61E0-6E68-A3E204D7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ACD2-AFB0-C8E8-49C4-A239CB71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33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2AA4-8193-60AC-96FA-6686D321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691D-3CCE-B7B2-E591-76747B160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F699-27B8-03EC-8E70-7E37D4A3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AD57-B896-07CF-909C-041E451A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EBDF3-977A-6AF8-F226-94A3A588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09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F3E9-F9CD-9EE1-1C1F-4D603783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039FF-6827-DE7C-CA26-A6B9B2B4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BF2F-94AC-74AA-A23D-77CECE67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113E4-D740-4540-006C-8562DA19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5D0F1-0275-9AB6-07BC-29ABD088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62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4F18-4CFE-FE2E-6010-E017646C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747B-B8A0-4EF8-6219-244361F8A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DB5DD-2E5E-4F20-3806-AF6934820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8A73-B7D2-1515-FA25-CE4ED8A0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3B555-5834-F0FF-A8C3-1AD02177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0393E-7F00-023C-5B58-FF4931C2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240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6BDA-6F9A-F6FC-F167-9A351200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8B7E8-3063-2C3E-C63F-C3A21FA6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C2E5B-BB17-5CFE-3B1B-DCBBF696D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57D73-B1D8-C852-A4F4-9D5F44C1A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64451-B6E1-D412-08C0-05A597D61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BCB2A-C6EF-20CF-4BAF-02AB99C7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7AD4D-200B-6BEE-6B33-1BB42E5C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C5288-2A31-3099-762F-0EB63114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717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1C6B-90EE-4DA2-26F8-B31FDBC2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9CDF8-F557-52C6-FC30-35C919CD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8EA8-717D-DF11-F148-C86292E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95F04-0513-031B-C6B7-77F10579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3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09E2B-D342-BCEA-1AA7-D3C4A8E6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42B4B-5F61-E9B1-F73B-6179EFE5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7FC1-CFB3-EE83-7FF8-E5BBF36E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2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EFEE-B6A2-9F59-9E46-1E226039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AA25-01F0-8B46-24DF-19B9F939D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A70E7-9C15-04E8-48BD-C4CA6EE29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6C94F-A03A-A639-E534-44BD3F30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A5221-7547-5D04-6EE0-D11936BA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E8691-5E61-952C-8008-C199F1F0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78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5D4F-4C7D-B904-D518-9B518D5CE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CB4F2-4343-CEC5-7DB1-212AFE5DA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ECB25-B9D5-0DF0-B3BA-116D14471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2C0EE-F92D-354A-E66E-7F6077DD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DE6AD-5A78-D854-C65A-B27E2F5F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DE6CB-0F41-B921-98D9-9A01F851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08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0B5C-24DE-DD90-DCFA-804678E10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5DD2F-0FEF-591D-CDE9-A26144EBF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B7AE8-C7AF-1509-2D65-20135B13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054B-01D0-DE90-B21B-E1BCDC7F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C9F9B-EB19-88BB-F85E-D7D14AC3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67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850EF-8DFF-C5A9-2F38-5ECB7D038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C0CB2-55B2-EBFF-5AE6-73EE19554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5866-2B14-B7D2-23E1-13791289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A7A3-DC1C-BAEA-A799-FF091C09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EA3A3-A734-1F9E-B513-34A91B5E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11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C69DC-4A3E-DF64-982C-4D2E995C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A7BB9-5C19-08B4-6792-788A50219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9F4CA-857D-12E1-B845-5EEB756DE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2362-8B56-4404-A530-8095BAC50AE4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3318-6592-24A8-3C41-B10E0E5CD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1E305-0EEF-0387-2326-B8C31BDD7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3E41-6D61-414C-9CE7-6CA3AB624B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48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8E5A-C2AB-EFFB-C5FE-45800F5B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147" y="1214438"/>
            <a:ext cx="11317706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 nudges social media away from accuracy and toward partisan bias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218FC-46F6-7047-ACCE-96CABAAAC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2511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Fletcher Scott, Dr. Damiano Spina, Dr. Lauren Saling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38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CDE25-9A83-F65A-D1BB-9C9E2C1E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BE46608-FDBE-F8B2-CDB2-C0156F8B0FDD}"/>
              </a:ext>
            </a:extLst>
          </p:cNvPr>
          <p:cNvGrpSpPr/>
          <p:nvPr/>
        </p:nvGrpSpPr>
        <p:grpSpPr>
          <a:xfrm>
            <a:off x="1" y="4969042"/>
            <a:ext cx="12191999" cy="1624260"/>
            <a:chOff x="0" y="477253"/>
            <a:chExt cx="12191999" cy="16242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EDAD55B-45BC-D488-30A2-F9CEB86A21FF}"/>
                </a:ext>
              </a:extLst>
            </p:cNvPr>
            <p:cNvGrpSpPr/>
            <p:nvPr/>
          </p:nvGrpSpPr>
          <p:grpSpPr>
            <a:xfrm>
              <a:off x="802104" y="477253"/>
              <a:ext cx="10603833" cy="649705"/>
              <a:chOff x="2671011" y="429126"/>
              <a:chExt cx="6633410" cy="64970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1BC5D9-2232-8E97-1470-7354F82FB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753979"/>
                <a:ext cx="663341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DEADF6D-83F1-EE76-17F1-DCFCEC782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65A1F46-F0BD-F7D2-F488-FF1643173F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1726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35F83AB-467A-9F3C-9996-0A8211ED2D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442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623D856-A851-597D-DCE7-6537759724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663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FCB6132-5E2F-8B5D-46CB-1785A9011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278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54B3070C-7829-9D9E-F47E-25DDC5C34A8C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51811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false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68F4D5B-A736-DAFD-8867-928EB31A8A5C}"/>
                </a:ext>
              </a:extLst>
            </p:cNvPr>
            <p:cNvSpPr txBox="1">
              <a:spLocks/>
            </p:cNvSpPr>
            <p:nvPr/>
          </p:nvSpPr>
          <p:spPr>
            <a:xfrm>
              <a:off x="10579772" y="1451808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true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28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0FCA3-A20D-C68B-A98C-6955BE53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B9BC303-8FF7-A3D0-B849-D83F80670F00}"/>
              </a:ext>
            </a:extLst>
          </p:cNvPr>
          <p:cNvGrpSpPr/>
          <p:nvPr/>
        </p:nvGrpSpPr>
        <p:grpSpPr>
          <a:xfrm>
            <a:off x="1" y="4969042"/>
            <a:ext cx="12191999" cy="1624260"/>
            <a:chOff x="0" y="477253"/>
            <a:chExt cx="12191999" cy="16242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EEB90C7-53C8-E48D-8B89-1B954A6459BF}"/>
                </a:ext>
              </a:extLst>
            </p:cNvPr>
            <p:cNvGrpSpPr/>
            <p:nvPr/>
          </p:nvGrpSpPr>
          <p:grpSpPr>
            <a:xfrm>
              <a:off x="802104" y="477253"/>
              <a:ext cx="10603833" cy="649705"/>
              <a:chOff x="2671011" y="429126"/>
              <a:chExt cx="6633410" cy="64970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DEDA361-9600-B3AE-26B9-3D9F3F2529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753979"/>
                <a:ext cx="663341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AC1499A-0D27-AA67-3E85-E3B7783924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D645BDE-889B-9A72-3BC9-389C87EB83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1726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9C1F3EA-9A01-03BD-392E-765498720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442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31830B7-BD68-E87C-D9E8-632D37D35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663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85DFE6F-093A-01DE-5763-B9A55B114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278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0078B783-338A-3B0D-BF47-F24DE65485EB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51811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false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0AD874CF-08A7-E554-D127-0D2136F0C2E4}"/>
                </a:ext>
              </a:extLst>
            </p:cNvPr>
            <p:cNvSpPr txBox="1">
              <a:spLocks/>
            </p:cNvSpPr>
            <p:nvPr/>
          </p:nvSpPr>
          <p:spPr>
            <a:xfrm>
              <a:off x="10579772" y="1451808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true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3F2592C-F850-28A9-ECFB-93C9E5D01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12" b="20789"/>
          <a:stretch>
            <a:fillRect/>
          </a:stretch>
        </p:blipFill>
        <p:spPr>
          <a:xfrm>
            <a:off x="495300" y="1474238"/>
            <a:ext cx="5715000" cy="9814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4E5C30-3A09-9FC5-4ECC-228E85C03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78" b="20723"/>
          <a:stretch>
            <a:fillRect/>
          </a:stretch>
        </p:blipFill>
        <p:spPr>
          <a:xfrm>
            <a:off x="6210300" y="3646458"/>
            <a:ext cx="5715000" cy="9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7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0293C-4373-F15C-9E8B-76DA83CA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6514DC1-5A6A-0816-475D-7CA1E84C9D73}"/>
              </a:ext>
            </a:extLst>
          </p:cNvPr>
          <p:cNvGrpSpPr/>
          <p:nvPr/>
        </p:nvGrpSpPr>
        <p:grpSpPr>
          <a:xfrm>
            <a:off x="1" y="4969042"/>
            <a:ext cx="12191999" cy="1624260"/>
            <a:chOff x="0" y="477253"/>
            <a:chExt cx="12191999" cy="16242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63BB12-E611-F7EC-1669-39F5BC2A67B4}"/>
                </a:ext>
              </a:extLst>
            </p:cNvPr>
            <p:cNvGrpSpPr/>
            <p:nvPr/>
          </p:nvGrpSpPr>
          <p:grpSpPr>
            <a:xfrm>
              <a:off x="802104" y="477253"/>
              <a:ext cx="10603833" cy="649705"/>
              <a:chOff x="2671011" y="429126"/>
              <a:chExt cx="6633410" cy="64970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90F4974-8065-F9A1-9BB3-F82219227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753979"/>
                <a:ext cx="663341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4930385-1293-F0C3-3714-F9D28B156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2E5B7A5-38BC-5B7C-C1B3-40003E018E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1726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619D00F-8293-2905-F080-666710767E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442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0607F68-CCFD-7757-E57C-DE7645D9A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663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FA070A0-A550-A9B1-AC25-CC04176F7D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278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43F6A5D7-800C-6227-3269-F6A6A344C6C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51811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false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C741CAA7-BA6C-87F5-0F8B-17F48D47603A}"/>
                </a:ext>
              </a:extLst>
            </p:cNvPr>
            <p:cNvSpPr txBox="1">
              <a:spLocks/>
            </p:cNvSpPr>
            <p:nvPr/>
          </p:nvSpPr>
          <p:spPr>
            <a:xfrm>
              <a:off x="10579772" y="1451808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true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BC6CF86-0145-8183-EF76-BE485B9EC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1" b="20789"/>
          <a:stretch>
            <a:fillRect/>
          </a:stretch>
        </p:blipFill>
        <p:spPr>
          <a:xfrm>
            <a:off x="495300" y="817322"/>
            <a:ext cx="5715000" cy="1638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A7D19B-3007-5DB7-043A-0DCC8EF83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7" b="20723"/>
          <a:stretch>
            <a:fillRect/>
          </a:stretch>
        </p:blipFill>
        <p:spPr>
          <a:xfrm>
            <a:off x="6210300" y="2989543"/>
            <a:ext cx="5715000" cy="16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7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A02AD-7984-EFF5-BBC5-50FAA888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426312-773A-3947-2B97-A40615DA463B}"/>
              </a:ext>
            </a:extLst>
          </p:cNvPr>
          <p:cNvGrpSpPr/>
          <p:nvPr/>
        </p:nvGrpSpPr>
        <p:grpSpPr>
          <a:xfrm>
            <a:off x="1" y="4969042"/>
            <a:ext cx="12191999" cy="1624260"/>
            <a:chOff x="0" y="477253"/>
            <a:chExt cx="12191999" cy="16242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7C1E37-D3D2-0BCE-8028-A800B820BCE9}"/>
                </a:ext>
              </a:extLst>
            </p:cNvPr>
            <p:cNvGrpSpPr/>
            <p:nvPr/>
          </p:nvGrpSpPr>
          <p:grpSpPr>
            <a:xfrm>
              <a:off x="802104" y="477253"/>
              <a:ext cx="10603833" cy="649705"/>
              <a:chOff x="2671011" y="429126"/>
              <a:chExt cx="6633410" cy="64970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148CF2-0E4F-55D9-91AD-3734D19EA8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753979"/>
                <a:ext cx="663341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9156A4F-354B-9B6D-7E98-93D3DA1F1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01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33D40E9-78AD-AD2F-BE73-53CD8A69BF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1726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DC79DAA-2D84-D408-7591-0AE537F14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4421" y="429126"/>
                <a:ext cx="0" cy="649705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83EF072-3CBE-83CD-2A5D-21B66DA51F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663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8F286E0-17F6-4D59-3954-7E93B7F17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278" y="563478"/>
                <a:ext cx="0" cy="38100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9137E7BE-747C-5349-3477-CEC0DA5C5460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451811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false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1760EB4-730B-C487-B761-C01242189DA3}"/>
                </a:ext>
              </a:extLst>
            </p:cNvPr>
            <p:cNvSpPr txBox="1">
              <a:spLocks/>
            </p:cNvSpPr>
            <p:nvPr/>
          </p:nvSpPr>
          <p:spPr>
            <a:xfrm>
              <a:off x="10579772" y="1451808"/>
              <a:ext cx="1612227" cy="6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Definitely true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681FD63-D84A-8504-DEC1-155D2DF32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1" b="20789"/>
          <a:stretch>
            <a:fillRect/>
          </a:stretch>
        </p:blipFill>
        <p:spPr>
          <a:xfrm>
            <a:off x="495300" y="817322"/>
            <a:ext cx="5715000" cy="1638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408E33-E630-42D8-B77D-69EA69917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7" b="20723"/>
          <a:stretch>
            <a:fillRect/>
          </a:stretch>
        </p:blipFill>
        <p:spPr>
          <a:xfrm>
            <a:off x="6210300" y="2989543"/>
            <a:ext cx="5715000" cy="16383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BA2A60-AFC8-02AE-18DC-20EB048A47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9" b="20381"/>
          <a:stretch>
            <a:fillRect/>
          </a:stretch>
        </p:blipFill>
        <p:spPr>
          <a:xfrm>
            <a:off x="6210300" y="3005850"/>
            <a:ext cx="5715000" cy="16383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A40205-EDDA-2A09-478E-C26A9DF84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4" b="21066"/>
          <a:stretch>
            <a:fillRect/>
          </a:stretch>
        </p:blipFill>
        <p:spPr>
          <a:xfrm>
            <a:off x="490968" y="817322"/>
            <a:ext cx="5715000" cy="16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4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E044-67C0-082C-598E-EF145A2A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224883-6139-29F2-AA20-7FF4B6B1E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182"/>
            <a:ext cx="12192000" cy="5236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values →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reference point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Different truth ratings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8ECFF664-1EE2-04BF-1798-2AD82972DD09}"/>
              </a:ext>
            </a:extLst>
          </p:cNvPr>
          <p:cNvSpPr txBox="1">
            <a:spLocks/>
          </p:cNvSpPr>
          <p:nvPr/>
        </p:nvSpPr>
        <p:spPr>
          <a:xfrm>
            <a:off x="346601" y="960086"/>
            <a:ext cx="11498797" cy="1858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Reference-dependence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Even when accuracy and identity values are stable, people’s truth ratings vary relative to some comparison class activated during judgement.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A28FDC-944B-ECCF-2094-8A108BA52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32598"/>
              </p:ext>
            </p:extLst>
          </p:nvPr>
        </p:nvGraphicFramePr>
        <p:xfrm>
          <a:off x="1764628" y="2773898"/>
          <a:ext cx="6284079" cy="38023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4693">
                  <a:extLst>
                    <a:ext uri="{9D8B030D-6E8A-4147-A177-3AD203B41FA5}">
                      <a16:colId xmlns:a16="http://schemas.microsoft.com/office/drawing/2014/main" val="2425622585"/>
                    </a:ext>
                  </a:extLst>
                </a:gridCol>
                <a:gridCol w="2094693">
                  <a:extLst>
                    <a:ext uri="{9D8B030D-6E8A-4147-A177-3AD203B41FA5}">
                      <a16:colId xmlns:a16="http://schemas.microsoft.com/office/drawing/2014/main" val="730488966"/>
                    </a:ext>
                  </a:extLst>
                </a:gridCol>
                <a:gridCol w="2094693">
                  <a:extLst>
                    <a:ext uri="{9D8B030D-6E8A-4147-A177-3AD203B41FA5}">
                      <a16:colId xmlns:a16="http://schemas.microsoft.com/office/drawing/2014/main" val="443616912"/>
                    </a:ext>
                  </a:extLst>
                </a:gridCol>
              </a:tblGrid>
              <a:tr h="1267461">
                <a:tc>
                  <a:txBody>
                    <a:bodyPr/>
                    <a:lstStyle/>
                    <a:p>
                      <a:endParaRPr lang="en-AU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  <a:p>
                      <a:pPr algn="ctr"/>
                      <a:endParaRPr lang="en-AU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  <a:p>
                      <a:endParaRPr lang="en-AU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9210359"/>
                  </a:ext>
                </a:extLst>
              </a:tr>
              <a:tr h="1267461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Congruent</a:t>
                      </a:r>
                      <a:endParaRPr lang="en-A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accept    </a:t>
                      </a:r>
                      <a:r>
                        <a:rPr lang="en-A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Costly 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reject   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15748666"/>
                  </a:ext>
                </a:extLst>
              </a:tr>
              <a:tr h="1267461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Incongruent</a:t>
                      </a:r>
                      <a:endParaRPr lang="en-AU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Costly 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accept   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reject</a:t>
                      </a:r>
                      <a:r>
                        <a:rPr lang="en-AU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49327454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FDE58DF2-E910-BA0D-D7DF-982C9B3B91BF}"/>
              </a:ext>
            </a:extLst>
          </p:cNvPr>
          <p:cNvSpPr/>
          <p:nvPr/>
        </p:nvSpPr>
        <p:spPr>
          <a:xfrm>
            <a:off x="1544868" y="4463933"/>
            <a:ext cx="300767" cy="176902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7351E5-8DDD-FD88-1017-E3667123D8EB}"/>
              </a:ext>
            </a:extLst>
          </p:cNvPr>
          <p:cNvSpPr txBox="1">
            <a:spLocks/>
          </p:cNvSpPr>
          <p:nvPr/>
        </p:nvSpPr>
        <p:spPr>
          <a:xfrm>
            <a:off x="0" y="4871380"/>
            <a:ext cx="1612227" cy="1065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congruence (to judge)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D802830-20FC-1858-C90E-A821FFE7DCCE}"/>
              </a:ext>
            </a:extLst>
          </p:cNvPr>
          <p:cNvSpPr/>
          <p:nvPr/>
        </p:nvSpPr>
        <p:spPr>
          <a:xfrm rot="5400000">
            <a:off x="5735131" y="1769830"/>
            <a:ext cx="439520" cy="2884391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B94E69-3D56-4CB3-DED8-44F9BDD892ED}"/>
              </a:ext>
            </a:extLst>
          </p:cNvPr>
          <p:cNvSpPr txBox="1">
            <a:spLocks/>
          </p:cNvSpPr>
          <p:nvPr/>
        </p:nvSpPr>
        <p:spPr>
          <a:xfrm>
            <a:off x="4676469" y="1889501"/>
            <a:ext cx="2556844" cy="143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(unknown to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99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1A778-DF46-D1AD-8614-80CEFA23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B619349-5A59-2F4F-E766-4FD74A695664}"/>
              </a:ext>
            </a:extLst>
          </p:cNvPr>
          <p:cNvSpPr txBox="1">
            <a:spLocks/>
          </p:cNvSpPr>
          <p:nvPr/>
        </p:nvSpPr>
        <p:spPr>
          <a:xfrm>
            <a:off x="1011399" y="768153"/>
            <a:ext cx="4034734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Accuracy-salient context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B65106-C19B-1F4D-7623-99F8C45CB3DC}"/>
              </a:ext>
            </a:extLst>
          </p:cNvPr>
          <p:cNvSpPr txBox="1">
            <a:spLocks/>
          </p:cNvSpPr>
          <p:nvPr/>
        </p:nvSpPr>
        <p:spPr>
          <a:xfrm>
            <a:off x="7315200" y="768152"/>
            <a:ext cx="3657600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Identity-salient context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74E1C-B53F-12AC-AED9-3AC706B37717}"/>
              </a:ext>
            </a:extLst>
          </p:cNvPr>
          <p:cNvSpPr/>
          <p:nvPr/>
        </p:nvSpPr>
        <p:spPr>
          <a:xfrm>
            <a:off x="501728" y="2682358"/>
            <a:ext cx="5074983" cy="1861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6DCE3-A49C-E110-3F2F-D1583E78EC18}"/>
              </a:ext>
            </a:extLst>
          </p:cNvPr>
          <p:cNvSpPr/>
          <p:nvPr/>
        </p:nvSpPr>
        <p:spPr>
          <a:xfrm>
            <a:off x="6615289" y="2682358"/>
            <a:ext cx="5074983" cy="1861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594E7B-2037-97B8-5EFC-478446BFDE7C}"/>
              </a:ext>
            </a:extLst>
          </p:cNvPr>
          <p:cNvSpPr txBox="1">
            <a:spLocks/>
          </p:cNvSpPr>
          <p:nvPr/>
        </p:nvSpPr>
        <p:spPr>
          <a:xfrm>
            <a:off x="875671" y="2144869"/>
            <a:ext cx="4327095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reference guides thought</a:t>
            </a:r>
            <a:endParaRPr lang="en-AU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5A56D4-CB6C-11BC-D73E-2D055F4E7B38}"/>
              </a:ext>
            </a:extLst>
          </p:cNvPr>
          <p:cNvCxnSpPr>
            <a:cxnSpLocks/>
          </p:cNvCxnSpPr>
          <p:nvPr/>
        </p:nvCxnSpPr>
        <p:spPr>
          <a:xfrm flipH="1">
            <a:off x="2634018" y="2604369"/>
            <a:ext cx="405201" cy="383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3BF413-5334-28AE-3340-B4A0951BA0F1}"/>
              </a:ext>
            </a:extLst>
          </p:cNvPr>
          <p:cNvCxnSpPr>
            <a:cxnSpLocks/>
          </p:cNvCxnSpPr>
          <p:nvPr/>
        </p:nvCxnSpPr>
        <p:spPr>
          <a:xfrm flipH="1">
            <a:off x="8650112" y="2604369"/>
            <a:ext cx="502669" cy="406559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FD84F1A-6207-95A6-A48C-547AF04B84D4}"/>
              </a:ext>
            </a:extLst>
          </p:cNvPr>
          <p:cNvSpPr txBox="1">
            <a:spLocks/>
          </p:cNvSpPr>
          <p:nvPr/>
        </p:nvSpPr>
        <p:spPr>
          <a:xfrm>
            <a:off x="1989611" y="4543579"/>
            <a:ext cx="2078310" cy="780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Judge claim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true / false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0611F80-69B2-64C8-0ED6-ACC6EBD83F07}"/>
              </a:ext>
            </a:extLst>
          </p:cNvPr>
          <p:cNvSpPr txBox="1">
            <a:spLocks/>
          </p:cNvSpPr>
          <p:nvPr/>
        </p:nvSpPr>
        <p:spPr>
          <a:xfrm>
            <a:off x="8124079" y="4543578"/>
            <a:ext cx="2078310" cy="780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Judge claim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true / false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F53965-E72D-14A7-AC42-902923A3D319}"/>
              </a:ext>
            </a:extLst>
          </p:cNvPr>
          <p:cNvSpPr/>
          <p:nvPr/>
        </p:nvSpPr>
        <p:spPr>
          <a:xfrm>
            <a:off x="3172177" y="5287003"/>
            <a:ext cx="2412479" cy="112719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AU" sz="23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AC9C82-DC59-4CEE-5030-249CB6FBCCC8}"/>
              </a:ext>
            </a:extLst>
          </p:cNvPr>
          <p:cNvSpPr/>
          <p:nvPr/>
        </p:nvSpPr>
        <p:spPr>
          <a:xfrm>
            <a:off x="491274" y="5287003"/>
            <a:ext cx="2412479" cy="112719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AU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C0E751-9003-E37A-7770-51484F4833B7}"/>
              </a:ext>
            </a:extLst>
          </p:cNvPr>
          <p:cNvSpPr/>
          <p:nvPr/>
        </p:nvSpPr>
        <p:spPr>
          <a:xfrm>
            <a:off x="9296192" y="5287003"/>
            <a:ext cx="2412479" cy="112719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AU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DFA1DC-15CE-EEAA-CCD3-2C83598501BA}"/>
              </a:ext>
            </a:extLst>
          </p:cNvPr>
          <p:cNvSpPr/>
          <p:nvPr/>
        </p:nvSpPr>
        <p:spPr>
          <a:xfrm>
            <a:off x="6615289" y="5287003"/>
            <a:ext cx="2412479" cy="112719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AU" sz="23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30BADB7-E221-7149-136D-8F3AAB58A04B}"/>
              </a:ext>
            </a:extLst>
          </p:cNvPr>
          <p:cNvSpPr txBox="1">
            <a:spLocks/>
          </p:cNvSpPr>
          <p:nvPr/>
        </p:nvSpPr>
        <p:spPr>
          <a:xfrm>
            <a:off x="805218" y="2885191"/>
            <a:ext cx="2366959" cy="710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does‘&lt;1%’ typically mean in budgets? </a:t>
            </a: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D6BBA8AB-F5C0-AB3B-1D99-A428105077C0}"/>
              </a:ext>
            </a:extLst>
          </p:cNvPr>
          <p:cNvSpPr txBox="1">
            <a:spLocks/>
          </p:cNvSpPr>
          <p:nvPr/>
        </p:nvSpPr>
        <p:spPr>
          <a:xfrm>
            <a:off x="3059811" y="3003247"/>
            <a:ext cx="1573758" cy="5191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53ACD387-EECE-AE81-090A-7D21F2453CA0}"/>
              </a:ext>
            </a:extLst>
          </p:cNvPr>
          <p:cNvSpPr txBox="1">
            <a:spLocks/>
          </p:cNvSpPr>
          <p:nvPr/>
        </p:nvSpPr>
        <p:spPr>
          <a:xfrm>
            <a:off x="7558431" y="3012707"/>
            <a:ext cx="1573758" cy="5191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A093A53-F630-EDCF-6186-A6500E978796}"/>
              </a:ext>
            </a:extLst>
          </p:cNvPr>
          <p:cNvSpPr txBox="1">
            <a:spLocks/>
          </p:cNvSpPr>
          <p:nvPr/>
        </p:nvSpPr>
        <p:spPr>
          <a:xfrm>
            <a:off x="9173372" y="2946795"/>
            <a:ext cx="2014231" cy="544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 trust this party?</a:t>
            </a: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CF5EB8-B180-03A0-A9D1-D5067642A976}"/>
              </a:ext>
            </a:extLst>
          </p:cNvPr>
          <p:cNvCxnSpPr>
            <a:cxnSpLocks/>
          </p:cNvCxnSpPr>
          <p:nvPr/>
        </p:nvCxnSpPr>
        <p:spPr>
          <a:xfrm flipH="1">
            <a:off x="1744028" y="3531886"/>
            <a:ext cx="307729" cy="3053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6A8D2E-431B-8072-04FE-82BE2F482290}"/>
              </a:ext>
            </a:extLst>
          </p:cNvPr>
          <p:cNvCxnSpPr>
            <a:cxnSpLocks/>
          </p:cNvCxnSpPr>
          <p:nvPr/>
        </p:nvCxnSpPr>
        <p:spPr>
          <a:xfrm flipH="1">
            <a:off x="7821528" y="3401804"/>
            <a:ext cx="523158" cy="42077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C5E5F8-BBBB-28F2-1447-141BBBA2B3BF}"/>
              </a:ext>
            </a:extLst>
          </p:cNvPr>
          <p:cNvCxnSpPr>
            <a:cxnSpLocks/>
          </p:cNvCxnSpPr>
          <p:nvPr/>
        </p:nvCxnSpPr>
        <p:spPr>
          <a:xfrm>
            <a:off x="9884466" y="3400217"/>
            <a:ext cx="490023" cy="4233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E8CBD5A1-AD7A-27CB-440A-E9C828B94A31}"/>
              </a:ext>
            </a:extLst>
          </p:cNvPr>
          <p:cNvSpPr txBox="1">
            <a:spLocks/>
          </p:cNvSpPr>
          <p:nvPr/>
        </p:nvSpPr>
        <p:spPr>
          <a:xfrm>
            <a:off x="642314" y="3791486"/>
            <a:ext cx="2196322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an official stat I’ve seen before?</a:t>
            </a: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A4CC8BE-3322-1876-F75A-8CD580859EF3}"/>
              </a:ext>
            </a:extLst>
          </p:cNvPr>
          <p:cNvSpPr txBox="1">
            <a:spLocks/>
          </p:cNvSpPr>
          <p:nvPr/>
        </p:nvSpPr>
        <p:spPr>
          <a:xfrm>
            <a:off x="3591537" y="3791486"/>
            <a:ext cx="1573758" cy="5191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5F1EFA4-8F5C-EDED-5565-56E4DA296662}"/>
              </a:ext>
            </a:extLst>
          </p:cNvPr>
          <p:cNvSpPr txBox="1">
            <a:spLocks/>
          </p:cNvSpPr>
          <p:nvPr/>
        </p:nvSpPr>
        <p:spPr>
          <a:xfrm>
            <a:off x="7034649" y="3791486"/>
            <a:ext cx="1573758" cy="5191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CF96367B-E826-1F1B-6F17-45A219BCE0DF}"/>
              </a:ext>
            </a:extLst>
          </p:cNvPr>
          <p:cNvSpPr txBox="1">
            <a:spLocks/>
          </p:cNvSpPr>
          <p:nvPr/>
        </p:nvSpPr>
        <p:spPr>
          <a:xfrm>
            <a:off x="9712360" y="3791486"/>
            <a:ext cx="1573758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cherry-picked?</a:t>
            </a:r>
            <a:endParaRPr lang="en-A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9B2F81-4E16-6F49-C3B4-EB3A36B1F581}"/>
              </a:ext>
            </a:extLst>
          </p:cNvPr>
          <p:cNvCxnSpPr>
            <a:cxnSpLocks/>
          </p:cNvCxnSpPr>
          <p:nvPr/>
        </p:nvCxnSpPr>
        <p:spPr>
          <a:xfrm>
            <a:off x="9152780" y="2604369"/>
            <a:ext cx="515266" cy="4356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E607641-15C7-47FC-800E-6501CA1A7B7B}"/>
              </a:ext>
            </a:extLst>
          </p:cNvPr>
          <p:cNvCxnSpPr>
            <a:cxnSpLocks/>
          </p:cNvCxnSpPr>
          <p:nvPr/>
        </p:nvCxnSpPr>
        <p:spPr>
          <a:xfrm>
            <a:off x="3771090" y="3382329"/>
            <a:ext cx="490023" cy="423352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5551094-3506-7F95-CEFA-C51566BC750E}"/>
              </a:ext>
            </a:extLst>
          </p:cNvPr>
          <p:cNvCxnSpPr>
            <a:cxnSpLocks/>
          </p:cNvCxnSpPr>
          <p:nvPr/>
        </p:nvCxnSpPr>
        <p:spPr>
          <a:xfrm>
            <a:off x="3039404" y="2586481"/>
            <a:ext cx="515266" cy="435618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D077F4D-6E89-AC52-08C7-026C31C3014C}"/>
              </a:ext>
            </a:extLst>
          </p:cNvPr>
          <p:cNvCxnSpPr>
            <a:cxnSpLocks/>
          </p:cNvCxnSpPr>
          <p:nvPr/>
        </p:nvCxnSpPr>
        <p:spPr>
          <a:xfrm>
            <a:off x="1697513" y="4258101"/>
            <a:ext cx="0" cy="12786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E35C046-334C-8136-F13C-CE4881A34EE0}"/>
              </a:ext>
            </a:extLst>
          </p:cNvPr>
          <p:cNvCxnSpPr>
            <a:cxnSpLocks/>
          </p:cNvCxnSpPr>
          <p:nvPr/>
        </p:nvCxnSpPr>
        <p:spPr>
          <a:xfrm>
            <a:off x="4378416" y="4258101"/>
            <a:ext cx="0" cy="132031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6850CCB-A384-744A-51DC-680F64171C2F}"/>
              </a:ext>
            </a:extLst>
          </p:cNvPr>
          <p:cNvCxnSpPr>
            <a:cxnSpLocks/>
          </p:cNvCxnSpPr>
          <p:nvPr/>
        </p:nvCxnSpPr>
        <p:spPr>
          <a:xfrm>
            <a:off x="7821528" y="4258101"/>
            <a:ext cx="0" cy="132031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D100427-89E3-1458-3C6A-078E1DF84972}"/>
              </a:ext>
            </a:extLst>
          </p:cNvPr>
          <p:cNvCxnSpPr>
            <a:cxnSpLocks/>
          </p:cNvCxnSpPr>
          <p:nvPr/>
        </p:nvCxnSpPr>
        <p:spPr>
          <a:xfrm>
            <a:off x="10499239" y="4258101"/>
            <a:ext cx="0" cy="13203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A4902A3-16C2-FE06-502F-196AD88FD037}"/>
              </a:ext>
            </a:extLst>
          </p:cNvPr>
          <p:cNvGrpSpPr/>
          <p:nvPr/>
        </p:nvGrpSpPr>
        <p:grpSpPr>
          <a:xfrm>
            <a:off x="481135" y="1195459"/>
            <a:ext cx="5074983" cy="889696"/>
            <a:chOff x="516990" y="351588"/>
            <a:chExt cx="5074983" cy="88969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F3445C9-4BC7-30AF-25CD-0F6DAD995CB1}"/>
                </a:ext>
              </a:extLst>
            </p:cNvPr>
            <p:cNvSpPr/>
            <p:nvPr/>
          </p:nvSpPr>
          <p:spPr>
            <a:xfrm>
              <a:off x="516990" y="351588"/>
              <a:ext cx="5074983" cy="88969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DBBF654-3FCC-6403-DA59-E39F393F5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3" t="46599" r="12876" b="27513"/>
            <a:stretch>
              <a:fillRect/>
            </a:stretch>
          </p:blipFill>
          <p:spPr>
            <a:xfrm>
              <a:off x="678169" y="446890"/>
              <a:ext cx="4752624" cy="690444"/>
            </a:xfrm>
            <a:prstGeom prst="rect">
              <a:avLst/>
            </a:prstGeom>
            <a:ln w="38100">
              <a:noFill/>
            </a:ln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B16E3AD-45C3-D007-725E-D964A84BCCFF}"/>
              </a:ext>
            </a:extLst>
          </p:cNvPr>
          <p:cNvGrpSpPr/>
          <p:nvPr/>
        </p:nvGrpSpPr>
        <p:grpSpPr>
          <a:xfrm>
            <a:off x="6758700" y="1195459"/>
            <a:ext cx="5074983" cy="889696"/>
            <a:chOff x="516990" y="351588"/>
            <a:chExt cx="5074983" cy="88969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992711C-5FD4-707E-476E-FBBD8BDFCB97}"/>
                </a:ext>
              </a:extLst>
            </p:cNvPr>
            <p:cNvSpPr/>
            <p:nvPr/>
          </p:nvSpPr>
          <p:spPr>
            <a:xfrm>
              <a:off x="516990" y="351588"/>
              <a:ext cx="5074983" cy="88969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00B7D5E-AB72-C83E-9885-831B89032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3" t="46599" r="12876" b="27513"/>
            <a:stretch>
              <a:fillRect/>
            </a:stretch>
          </p:blipFill>
          <p:spPr>
            <a:xfrm>
              <a:off x="678169" y="446890"/>
              <a:ext cx="4752624" cy="690444"/>
            </a:xfrm>
            <a:prstGeom prst="rect">
              <a:avLst/>
            </a:prstGeom>
          </p:spPr>
        </p:pic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78C00ACF-0233-EDAE-C901-4AF141919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" t="23457" r="86840" b="58890"/>
          <a:stretch>
            <a:fillRect/>
          </a:stretch>
        </p:blipFill>
        <p:spPr>
          <a:xfrm>
            <a:off x="6458394" y="1400156"/>
            <a:ext cx="461485" cy="470808"/>
          </a:xfrm>
          <a:prstGeom prst="ellipse">
            <a:avLst/>
          </a:prstGeom>
        </p:spPr>
      </p:pic>
      <p:sp>
        <p:nvSpPr>
          <p:cNvPr id="88" name="Content Placeholder 8">
            <a:extLst>
              <a:ext uri="{FF2B5EF4-FFF2-40B4-BE49-F238E27FC236}">
                <a16:creationId xmlns:a16="http://schemas.microsoft.com/office/drawing/2014/main" id="{4641256A-FB65-2B73-869E-B151F4DA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42"/>
            <a:ext cx="10515600" cy="5236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active reference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evaluating a claim?</a:t>
            </a:r>
          </a:p>
          <a:p>
            <a:pPr algn="ctr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95888-577C-B0B9-3D5B-C10A155F7A0F}"/>
              </a:ext>
            </a:extLst>
          </p:cNvPr>
          <p:cNvSpPr txBox="1">
            <a:spLocks/>
          </p:cNvSpPr>
          <p:nvPr/>
        </p:nvSpPr>
        <p:spPr>
          <a:xfrm>
            <a:off x="6989236" y="2148494"/>
            <a:ext cx="4327095" cy="519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reference guides thought</a:t>
            </a:r>
            <a:endParaRPr lang="en-AU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6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D6B1-9C10-F673-98A3-23CA1135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66ABA2-6313-4FCE-3C7D-6885D190916D}"/>
              </a:ext>
            </a:extLst>
          </p:cNvPr>
          <p:cNvSpPr txBox="1">
            <a:spLocks/>
          </p:cNvSpPr>
          <p:nvPr/>
        </p:nvSpPr>
        <p:spPr>
          <a:xfrm>
            <a:off x="1011399" y="648273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framing</a:t>
            </a:r>
          </a:p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as an active reference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ADD161-6C3F-1FCD-3DC6-9CE45C6BD2E1}"/>
              </a:ext>
            </a:extLst>
          </p:cNvPr>
          <p:cNvSpPr txBox="1">
            <a:spLocks/>
          </p:cNvSpPr>
          <p:nvPr/>
        </p:nvSpPr>
        <p:spPr>
          <a:xfrm>
            <a:off x="6933063" y="611059"/>
            <a:ext cx="442187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 framing</a:t>
            </a:r>
          </a:p>
          <a:p>
            <a:pPr algn="ctr"/>
            <a:r>
              <a:rPr lang="en-A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Partisanship as an active reference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CB24667-B676-11A7-B6A4-E215E8C4A0CB}"/>
              </a:ext>
            </a:extLst>
          </p:cNvPr>
          <p:cNvSpPr/>
          <p:nvPr/>
        </p:nvSpPr>
        <p:spPr>
          <a:xfrm>
            <a:off x="481135" y="1386530"/>
            <a:ext cx="5074983" cy="11035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U.S. inflation hit 8.6% in May 2022</a:t>
            </a:r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Content Placeholder 8">
            <a:extLst>
              <a:ext uri="{FF2B5EF4-FFF2-40B4-BE49-F238E27FC236}">
                <a16:creationId xmlns:a16="http://schemas.microsoft.com/office/drawing/2014/main" id="{8E77F44A-9CEE-8CD3-7449-362D2A046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42"/>
            <a:ext cx="12192000" cy="5236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cues </a:t>
            </a: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Shifts the value of thinking → Selects the active reference 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34A2C40-1CFE-B677-8EC1-55C36AE189FF}"/>
              </a:ext>
            </a:extLst>
          </p:cNvPr>
          <p:cNvSpPr/>
          <p:nvPr/>
        </p:nvSpPr>
        <p:spPr>
          <a:xfrm>
            <a:off x="6758700" y="1386531"/>
            <a:ext cx="5074983" cy="110356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3FDF6-43B8-0F18-0F0D-6241A4993453}"/>
              </a:ext>
            </a:extLst>
          </p:cNvPr>
          <p:cNvSpPr txBox="1"/>
          <p:nvPr/>
        </p:nvSpPr>
        <p:spPr>
          <a:xfrm>
            <a:off x="6758700" y="1553590"/>
            <a:ext cx="4931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WON’T TELL YOU: U.S. INFLATION HITS 8.6%</a:t>
            </a:r>
            <a:endParaRPr lang="en-A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1FE1443-096B-0192-0463-5DBA555684E8}"/>
              </a:ext>
            </a:extLst>
          </p:cNvPr>
          <p:cNvGrpSpPr/>
          <p:nvPr/>
        </p:nvGrpSpPr>
        <p:grpSpPr>
          <a:xfrm>
            <a:off x="4871987" y="2919816"/>
            <a:ext cx="10095965" cy="4496234"/>
            <a:chOff x="1525419" y="888729"/>
            <a:chExt cx="10095965" cy="4906015"/>
          </a:xfrm>
        </p:grpSpPr>
        <p:sp>
          <p:nvSpPr>
            <p:cNvPr id="144" name="Arc 143">
              <a:extLst>
                <a:ext uri="{FF2B5EF4-FFF2-40B4-BE49-F238E27FC236}">
                  <a16:creationId xmlns:a16="http://schemas.microsoft.com/office/drawing/2014/main" id="{385D99B3-1C65-99B4-6E7C-ED74B2906315}"/>
                </a:ext>
              </a:extLst>
            </p:cNvPr>
            <p:cNvSpPr/>
            <p:nvPr/>
          </p:nvSpPr>
          <p:spPr>
            <a:xfrm flipH="1">
              <a:off x="1585263" y="1214594"/>
              <a:ext cx="10036121" cy="4580150"/>
            </a:xfrm>
            <a:prstGeom prst="arc">
              <a:avLst>
                <a:gd name="adj1" fmla="val 16200000"/>
                <a:gd name="adj2" fmla="val 2155466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AAC8E08-0A72-DF06-C31F-E60D9F14AC60}"/>
                </a:ext>
              </a:extLst>
            </p:cNvPr>
            <p:cNvGrpSpPr/>
            <p:nvPr/>
          </p:nvGrpSpPr>
          <p:grpSpPr>
            <a:xfrm>
              <a:off x="1525419" y="888729"/>
              <a:ext cx="5431207" cy="4282234"/>
              <a:chOff x="1525419" y="888729"/>
              <a:chExt cx="5431207" cy="4282234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B13B4C50-7E5C-6C9E-3190-1E4FFC8BE685}"/>
                  </a:ext>
                </a:extLst>
              </p:cNvPr>
              <p:cNvCxnSpPr>
                <a:cxnSpLocks/>
                <a:stCxn id="144" idx="2"/>
              </p:cNvCxnSpPr>
              <p:nvPr/>
            </p:nvCxnSpPr>
            <p:spPr>
              <a:xfrm>
                <a:off x="1587357" y="3438512"/>
                <a:ext cx="3369172" cy="17324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D1B9201-DBA9-B1F0-2A80-46E477F69925}"/>
                  </a:ext>
                </a:extLst>
              </p:cNvPr>
              <p:cNvSpPr/>
              <p:nvPr/>
            </p:nvSpPr>
            <p:spPr>
              <a:xfrm>
                <a:off x="4177391" y="888729"/>
                <a:ext cx="2779235" cy="42822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BBD00926-8A49-4BEE-C605-9B5A6D5C32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83173" y="1481082"/>
                <a:ext cx="2093" cy="324493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Arc 151">
                <a:extLst>
                  <a:ext uri="{FF2B5EF4-FFF2-40B4-BE49-F238E27FC236}">
                    <a16:creationId xmlns:a16="http://schemas.microsoft.com/office/drawing/2014/main" id="{944F60DA-6EAF-1851-644F-50F1085AF8F2}"/>
                  </a:ext>
                </a:extLst>
              </p:cNvPr>
              <p:cNvSpPr/>
              <p:nvPr/>
            </p:nvSpPr>
            <p:spPr>
              <a:xfrm rot="750070" flipH="1">
                <a:off x="1525419" y="2813513"/>
                <a:ext cx="2994758" cy="2057720"/>
              </a:xfrm>
              <a:prstGeom prst="arc">
                <a:avLst>
                  <a:gd name="adj1" fmla="val 12729417"/>
                  <a:gd name="adj2" fmla="val 21324543"/>
                </a:avLst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A0FB7D2-CA24-B689-194D-1D7124D0E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3173" y="2786641"/>
                <a:ext cx="1258185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861AF39C-A381-DFEA-3C30-3186C4539E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8531" y="1990708"/>
                <a:ext cx="0" cy="2051756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0BE2F736-DA93-89F0-CF7C-35ACE37462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85266" y="3404133"/>
                <a:ext cx="2951535" cy="829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3" name="Content Placeholder 8">
            <a:extLst>
              <a:ext uri="{FF2B5EF4-FFF2-40B4-BE49-F238E27FC236}">
                <a16:creationId xmlns:a16="http://schemas.microsoft.com/office/drawing/2014/main" id="{85CADD28-3139-40FF-D7F9-EEB5AB3B581E}"/>
              </a:ext>
            </a:extLst>
          </p:cNvPr>
          <p:cNvSpPr txBox="1">
            <a:spLocks/>
          </p:cNvSpPr>
          <p:nvPr/>
        </p:nvSpPr>
        <p:spPr>
          <a:xfrm>
            <a:off x="358579" y="4282272"/>
            <a:ext cx="3639736" cy="23244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the reference where payoff is highest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Marginal Value of Precision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Content Placeholder 8">
            <a:extLst>
              <a:ext uri="{FF2B5EF4-FFF2-40B4-BE49-F238E27FC236}">
                <a16:creationId xmlns:a16="http://schemas.microsoft.com/office/drawing/2014/main" id="{6954A31E-FCE3-D1E5-F625-372C3E3E553F}"/>
              </a:ext>
            </a:extLst>
          </p:cNvPr>
          <p:cNvSpPr txBox="1">
            <a:spLocks/>
          </p:cNvSpPr>
          <p:nvPr/>
        </p:nvSpPr>
        <p:spPr>
          <a:xfrm rot="16200000">
            <a:off x="2933066" y="4710904"/>
            <a:ext cx="3405459" cy="5222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Payoff (expected value)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Content Placeholder 8">
            <a:extLst>
              <a:ext uri="{FF2B5EF4-FFF2-40B4-BE49-F238E27FC236}">
                <a16:creationId xmlns:a16="http://schemas.microsoft.com/office/drawing/2014/main" id="{2DA77E4B-45A0-220F-8CA4-330ACF5931EE}"/>
              </a:ext>
            </a:extLst>
          </p:cNvPr>
          <p:cNvSpPr txBox="1">
            <a:spLocks/>
          </p:cNvSpPr>
          <p:nvPr/>
        </p:nvSpPr>
        <p:spPr>
          <a:xfrm>
            <a:off x="4703382" y="3020027"/>
            <a:ext cx="3405459" cy="41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 time/effort</a:t>
            </a:r>
            <a:endParaRPr lang="en-AU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Content Placeholder 8">
            <a:extLst>
              <a:ext uri="{FF2B5EF4-FFF2-40B4-BE49-F238E27FC236}">
                <a16:creationId xmlns:a16="http://schemas.microsoft.com/office/drawing/2014/main" id="{DC5F2BE7-EC5F-FE14-4356-9391BD2A21AD}"/>
              </a:ext>
            </a:extLst>
          </p:cNvPr>
          <p:cNvSpPr txBox="1">
            <a:spLocks/>
          </p:cNvSpPr>
          <p:nvPr/>
        </p:nvSpPr>
        <p:spPr>
          <a:xfrm>
            <a:off x="5023337" y="4282272"/>
            <a:ext cx="5081042" cy="439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Commit* to a truth rating</a:t>
            </a:r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2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0CCD-6B70-495B-2604-66D5CCF4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DF1A557F-B490-2020-E25B-E7063CDA8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42"/>
            <a:ext cx="12192000" cy="46531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design: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x 2 x 2 truth-judgement task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9816A1-CA2A-130C-5E50-76B5A74B548D}"/>
              </a:ext>
            </a:extLst>
          </p:cNvPr>
          <p:cNvSpPr/>
          <p:nvPr/>
        </p:nvSpPr>
        <p:spPr>
          <a:xfrm>
            <a:off x="598709" y="910806"/>
            <a:ext cx="3865008" cy="25494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B7BCF7-49CD-C5F3-285A-A9F703809B05}"/>
              </a:ext>
            </a:extLst>
          </p:cNvPr>
          <p:cNvSpPr/>
          <p:nvPr/>
        </p:nvSpPr>
        <p:spPr>
          <a:xfrm>
            <a:off x="9066082" y="910806"/>
            <a:ext cx="2603212" cy="25494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12258D1-2A94-C057-4F2C-7ABD0220D1E3}"/>
              </a:ext>
            </a:extLst>
          </p:cNvPr>
          <p:cNvSpPr txBox="1">
            <a:spLocks/>
          </p:cNvSpPr>
          <p:nvPr/>
        </p:nvSpPr>
        <p:spPr>
          <a:xfrm>
            <a:off x="513846" y="838614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Between-subjects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 format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361F1B87-2840-67D8-3F79-275F856D9EBA}"/>
              </a:ext>
            </a:extLst>
          </p:cNvPr>
          <p:cNvSpPr txBox="1">
            <a:spLocks/>
          </p:cNvSpPr>
          <p:nvPr/>
        </p:nvSpPr>
        <p:spPr>
          <a:xfrm>
            <a:off x="8350321" y="838614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rating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6C7B47-76F3-E6FE-E827-CF02B1BB34B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463717" y="2165685"/>
            <a:ext cx="4602365" cy="1983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C577287-6F64-DE25-E6EF-B8ABAD4CE73A}"/>
              </a:ext>
            </a:extLst>
          </p:cNvPr>
          <p:cNvSpPr/>
          <p:nvPr/>
        </p:nvSpPr>
        <p:spPr>
          <a:xfrm>
            <a:off x="4877939" y="910806"/>
            <a:ext cx="3865008" cy="25494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5443DD7-D867-56F5-8D5D-357E6281D835}"/>
              </a:ext>
            </a:extLst>
          </p:cNvPr>
          <p:cNvSpPr txBox="1">
            <a:spLocks/>
          </p:cNvSpPr>
          <p:nvPr/>
        </p:nvSpPr>
        <p:spPr>
          <a:xfrm>
            <a:off x="4786852" y="838614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Within-subjects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 type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1181AE2-931D-14E0-CA6C-E1997D1AD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732669"/>
              </p:ext>
            </p:extLst>
          </p:nvPr>
        </p:nvGraphicFramePr>
        <p:xfrm>
          <a:off x="4720806" y="1396856"/>
          <a:ext cx="4034733" cy="20633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4911">
                  <a:extLst>
                    <a:ext uri="{9D8B030D-6E8A-4147-A177-3AD203B41FA5}">
                      <a16:colId xmlns:a16="http://schemas.microsoft.com/office/drawing/2014/main" val="2425622585"/>
                    </a:ext>
                  </a:extLst>
                </a:gridCol>
                <a:gridCol w="1344911">
                  <a:extLst>
                    <a:ext uri="{9D8B030D-6E8A-4147-A177-3AD203B41FA5}">
                      <a16:colId xmlns:a16="http://schemas.microsoft.com/office/drawing/2014/main" val="730488966"/>
                    </a:ext>
                  </a:extLst>
                </a:gridCol>
                <a:gridCol w="1344911">
                  <a:extLst>
                    <a:ext uri="{9D8B030D-6E8A-4147-A177-3AD203B41FA5}">
                      <a16:colId xmlns:a16="http://schemas.microsoft.com/office/drawing/2014/main" val="443616912"/>
                    </a:ext>
                  </a:extLst>
                </a:gridCol>
              </a:tblGrid>
              <a:tr h="687793">
                <a:tc>
                  <a:txBody>
                    <a:bodyPr/>
                    <a:lstStyle/>
                    <a:p>
                      <a:endParaRPr lang="en-AU"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90" marR="63090" marT="31545" marB="31545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  <a:p>
                      <a:pPr algn="ctr"/>
                      <a:endParaRPr lang="en-AU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90" marR="63090" marT="31545" marB="31545" anchor="b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  <a:p>
                      <a:endParaRPr lang="en-AU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90" marR="63090" marT="31545" marB="31545" anchor="b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9210359"/>
                  </a:ext>
                </a:extLst>
              </a:tr>
              <a:tr h="687793">
                <a:tc>
                  <a:txBody>
                    <a:bodyPr/>
                    <a:lstStyle/>
                    <a:p>
                      <a:pPr algn="r"/>
                      <a:r>
                        <a:rPr lang="en-US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Congruent</a:t>
                      </a:r>
                      <a:endParaRPr lang="en-A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90" marR="63090" marT="31545" marB="31545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headlines    </a:t>
                      </a:r>
                      <a:r>
                        <a:rPr lang="en-A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3090" marR="63090" marT="31545" marB="31545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headlines</a:t>
                      </a:r>
                    </a:p>
                  </a:txBody>
                  <a:tcPr marL="63090" marR="63090" marT="31545" marB="31545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15748666"/>
                  </a:ext>
                </a:extLst>
              </a:tr>
              <a:tr h="687793">
                <a:tc>
                  <a:txBody>
                    <a:bodyPr/>
                    <a:lstStyle/>
                    <a:p>
                      <a:pPr algn="r"/>
                      <a:r>
                        <a:rPr lang="en-US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Incongruent</a:t>
                      </a:r>
                      <a:endParaRPr lang="en-A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90" marR="63090" marT="31545" marB="31545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headlines</a:t>
                      </a:r>
                    </a:p>
                  </a:txBody>
                  <a:tcPr marL="63090" marR="63090" marT="31545" marB="31545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headlines</a:t>
                      </a:r>
                      <a:r>
                        <a:rPr lang="en-AU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3090" marR="63090" marT="31545" marB="31545" anchor="ctr" anchorCtr="1"/>
                </a:tc>
                <a:extLst>
                  <a:ext uri="{0D108BD9-81ED-4DB2-BD59-A6C34878D82A}">
                    <a16:rowId xmlns:a16="http://schemas.microsoft.com/office/drawing/2014/main" val="3049327454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9787D986-5C44-D763-54AA-F78E449B36C9}"/>
              </a:ext>
            </a:extLst>
          </p:cNvPr>
          <p:cNvSpPr/>
          <p:nvPr/>
        </p:nvSpPr>
        <p:spPr>
          <a:xfrm>
            <a:off x="785703" y="1783952"/>
            <a:ext cx="3491022" cy="6252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U.S. inflation hit 8.6% in May 2022</a:t>
            </a:r>
            <a:endParaRPr lang="en-AU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1575F1-679F-B06D-7C21-B8EF3669C9F4}"/>
              </a:ext>
            </a:extLst>
          </p:cNvPr>
          <p:cNvSpPr/>
          <p:nvPr/>
        </p:nvSpPr>
        <p:spPr>
          <a:xfrm>
            <a:off x="785701" y="2753889"/>
            <a:ext cx="3491024" cy="615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4F8675-31D7-0B95-162D-1BD4D01A386F}"/>
              </a:ext>
            </a:extLst>
          </p:cNvPr>
          <p:cNvSpPr txBox="1"/>
          <p:nvPr/>
        </p:nvSpPr>
        <p:spPr>
          <a:xfrm>
            <a:off x="713421" y="2758728"/>
            <a:ext cx="3635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WON’T TELL YOU: U.S. INFLATION HITS 8.6%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B17EFB-6A81-39A2-2314-802E3B3840BC}"/>
              </a:ext>
            </a:extLst>
          </p:cNvPr>
          <p:cNvSpPr txBox="1"/>
          <p:nvPr/>
        </p:nvSpPr>
        <p:spPr>
          <a:xfrm>
            <a:off x="-815323" y="2414317"/>
            <a:ext cx="39498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434A80-792E-5B9A-23E8-DCBCB38EFA13}"/>
              </a:ext>
            </a:extLst>
          </p:cNvPr>
          <p:cNvSpPr txBox="1"/>
          <p:nvPr/>
        </p:nvSpPr>
        <p:spPr>
          <a:xfrm>
            <a:off x="-881998" y="1444256"/>
            <a:ext cx="39498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0816EB-37AC-E4A8-3C63-608BA30D1425}"/>
              </a:ext>
            </a:extLst>
          </p:cNvPr>
          <p:cNvSpPr txBox="1"/>
          <p:nvPr/>
        </p:nvSpPr>
        <p:spPr>
          <a:xfrm>
            <a:off x="9121206" y="2217420"/>
            <a:ext cx="394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Signatures: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Reaction Time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49D4EF-D0B9-0B93-C0CE-03282ECD2F6C}"/>
              </a:ext>
            </a:extLst>
          </p:cNvPr>
          <p:cNvSpPr txBox="1"/>
          <p:nvPr/>
        </p:nvSpPr>
        <p:spPr>
          <a:xfrm>
            <a:off x="9121206" y="1612500"/>
            <a:ext cx="394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/ FALSE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509264-FA89-BD19-0419-3BB4278C205E}"/>
              </a:ext>
            </a:extLst>
          </p:cNvPr>
          <p:cNvSpPr/>
          <p:nvPr/>
        </p:nvSpPr>
        <p:spPr>
          <a:xfrm>
            <a:off x="598709" y="3709014"/>
            <a:ext cx="2603212" cy="25494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2A950E4F-A8F9-0FDF-9451-E01912F02E54}"/>
              </a:ext>
            </a:extLst>
          </p:cNvPr>
          <p:cNvSpPr txBox="1">
            <a:spLocks/>
          </p:cNvSpPr>
          <p:nvPr/>
        </p:nvSpPr>
        <p:spPr>
          <a:xfrm>
            <a:off x="-117052" y="3479336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33AFD8-7B96-822A-7DF2-4B5EF9A3D96B}"/>
              </a:ext>
            </a:extLst>
          </p:cNvPr>
          <p:cNvSpPr txBox="1"/>
          <p:nvPr/>
        </p:nvSpPr>
        <p:spPr>
          <a:xfrm>
            <a:off x="658869" y="5315129"/>
            <a:ext cx="394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assignment</a:t>
            </a:r>
            <a:r>
              <a:rPr lang="en-A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A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per condition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64E638-A38E-BA51-EC76-C9A2030CA0A8}"/>
              </a:ext>
            </a:extLst>
          </p:cNvPr>
          <p:cNvSpPr txBox="1"/>
          <p:nvPr/>
        </p:nvSpPr>
        <p:spPr>
          <a:xfrm>
            <a:off x="658869" y="4298050"/>
            <a:ext cx="240900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 U.S. partisans (Democrat/Republican)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9C3E904-C3F2-11D1-E0FE-F2E544C6C481}"/>
              </a:ext>
            </a:extLst>
          </p:cNvPr>
          <p:cNvCxnSpPr>
            <a:cxnSpLocks/>
          </p:cNvCxnSpPr>
          <p:nvPr/>
        </p:nvCxnSpPr>
        <p:spPr>
          <a:xfrm>
            <a:off x="3201921" y="4946163"/>
            <a:ext cx="4602365" cy="1983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B1027A2-3D41-0AF7-6DB7-320D02282108}"/>
              </a:ext>
            </a:extLst>
          </p:cNvPr>
          <p:cNvSpPr/>
          <p:nvPr/>
        </p:nvSpPr>
        <p:spPr>
          <a:xfrm>
            <a:off x="3607014" y="3709014"/>
            <a:ext cx="8062279" cy="25494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196CAF5-DABE-9DA9-DBBB-6ACB6384DBF6}"/>
              </a:ext>
            </a:extLst>
          </p:cNvPr>
          <p:cNvSpPr txBox="1">
            <a:spLocks/>
          </p:cNvSpPr>
          <p:nvPr/>
        </p:nvSpPr>
        <p:spPr>
          <a:xfrm>
            <a:off x="5309540" y="3769586"/>
            <a:ext cx="4989492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Mixed-effects models / Hierarchical DDM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8856A26-D2D6-35BD-BE9F-D678C94A5608}"/>
                  </a:ext>
                </a:extLst>
              </p:cNvPr>
              <p:cNvSpPr/>
              <p:nvPr/>
            </p:nvSpPr>
            <p:spPr>
              <a:xfrm>
                <a:off x="3840101" y="4477768"/>
                <a:ext cx="3625877" cy="15416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Trial-level binomial mixed model</a:t>
                </a:r>
              </a:p>
              <a:p>
                <a:r>
                  <a:rPr 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test: Style </a:t>
                </a:r>
                <a14:m>
                  <m:oMath xmlns:m="http://schemas.openxmlformats.org/officeDocument/2006/math">
                    <m:r>
                      <a:rPr lang="en-US" sz="17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AU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Congruence </a:t>
                </a:r>
                <a14:m>
                  <m:oMath xmlns:m="http://schemas.openxmlformats.org/officeDocument/2006/math">
                    <m:r>
                      <a:rPr lang="en-AU" sz="17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AU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Truth</a:t>
                </a:r>
              </a:p>
              <a:p>
                <a:r>
                  <a:rPr lang="en-AU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intercepts: participant, headline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8856A26-D2D6-35BD-BE9F-D678C94A5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101" y="4477768"/>
                <a:ext cx="3625877" cy="1541617"/>
              </a:xfrm>
              <a:prstGeom prst="rect">
                <a:avLst/>
              </a:prstGeom>
              <a:blipFill>
                <a:blip r:embed="rId2"/>
                <a:stretch>
                  <a:fillRect l="-100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EA26D120-27ED-449A-56E3-D2FBA2267D8A}"/>
              </a:ext>
            </a:extLst>
          </p:cNvPr>
          <p:cNvSpPr/>
          <p:nvPr/>
        </p:nvSpPr>
        <p:spPr>
          <a:xfrm>
            <a:off x="7804286" y="4474691"/>
            <a:ext cx="3625877" cy="15416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format change drift vs bias vs response caution?</a:t>
            </a:r>
          </a:p>
          <a:p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via LOO-CV</a:t>
            </a:r>
          </a:p>
          <a:p>
            <a:endParaRPr lang="en-AU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A52B8FC-3D65-A1B0-85A4-8D7337B4C234}"/>
              </a:ext>
            </a:extLst>
          </p:cNvPr>
          <p:cNvSpPr txBox="1">
            <a:spLocks/>
          </p:cNvSpPr>
          <p:nvPr/>
        </p:nvSpPr>
        <p:spPr>
          <a:xfrm>
            <a:off x="3635672" y="4249435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/ Reaction time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7035B32C-E1CB-53E3-905F-61470B2CE2C8}"/>
              </a:ext>
            </a:extLst>
          </p:cNvPr>
          <p:cNvSpPr txBox="1">
            <a:spLocks/>
          </p:cNvSpPr>
          <p:nvPr/>
        </p:nvSpPr>
        <p:spPr>
          <a:xfrm>
            <a:off x="7599858" y="4249435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Decision-process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26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C2B0-1E3E-193F-0F04-A0A8BF27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C40A9C13-7D26-A9C6-3C55-0C50D1DFC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42"/>
            <a:ext cx="12192000" cy="46531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result: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 reduces accuracy and shifts truth-judgements towards congruence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BE3F28-7286-DD4D-8F17-235DEB7F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" b="5541"/>
          <a:stretch>
            <a:fillRect/>
          </a:stretch>
        </p:blipFill>
        <p:spPr>
          <a:xfrm>
            <a:off x="339634" y="553983"/>
            <a:ext cx="10702251" cy="53505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89E502-FCBC-B098-491E-33AA105908BA}"/>
              </a:ext>
            </a:extLst>
          </p:cNvPr>
          <p:cNvSpPr/>
          <p:nvPr/>
        </p:nvSpPr>
        <p:spPr>
          <a:xfrm>
            <a:off x="9652268" y="2928248"/>
            <a:ext cx="1389618" cy="340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121C3E-A747-56D9-314B-36A9E44253A0}"/>
              </a:ext>
            </a:extLst>
          </p:cNvPr>
          <p:cNvSpPr/>
          <p:nvPr/>
        </p:nvSpPr>
        <p:spPr>
          <a:xfrm>
            <a:off x="10227325" y="2928248"/>
            <a:ext cx="814560" cy="1002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0A18B-3AD9-86E7-3E57-BADA0B9FC153}"/>
              </a:ext>
            </a:extLst>
          </p:cNvPr>
          <p:cNvSpPr/>
          <p:nvPr/>
        </p:nvSpPr>
        <p:spPr>
          <a:xfrm>
            <a:off x="6165669" y="575346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17237-9168-DE17-8A38-73C373E5F7C6}"/>
              </a:ext>
            </a:extLst>
          </p:cNvPr>
          <p:cNvSpPr/>
          <p:nvPr/>
        </p:nvSpPr>
        <p:spPr>
          <a:xfrm>
            <a:off x="1422549" y="561059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F01B3-E13D-6F93-57FD-0C77D794FDFC}"/>
              </a:ext>
            </a:extLst>
          </p:cNvPr>
          <p:cNvSpPr/>
          <p:nvPr/>
        </p:nvSpPr>
        <p:spPr>
          <a:xfrm rot="16200000">
            <a:off x="-2228783" y="3001130"/>
            <a:ext cx="5467751" cy="46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ED9C0C-D579-905F-DDCF-925C1F0FAE49}"/>
              </a:ext>
            </a:extLst>
          </p:cNvPr>
          <p:cNvSpPr txBox="1">
            <a:spLocks/>
          </p:cNvSpPr>
          <p:nvPr/>
        </p:nvSpPr>
        <p:spPr>
          <a:xfrm>
            <a:off x="804951" y="626177"/>
            <a:ext cx="4034734" cy="752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(opposes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EBC9764-12AA-14CA-E107-D4CBEC6ED68A}"/>
              </a:ext>
            </a:extLst>
          </p:cNvPr>
          <p:cNvSpPr txBox="1">
            <a:spLocks/>
          </p:cNvSpPr>
          <p:nvPr/>
        </p:nvSpPr>
        <p:spPr>
          <a:xfrm>
            <a:off x="5682896" y="581517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(supports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9E0D3-6960-762A-2636-38FF4253D785}"/>
              </a:ext>
            </a:extLst>
          </p:cNvPr>
          <p:cNvSpPr txBox="1"/>
          <p:nvPr/>
        </p:nvSpPr>
        <p:spPr>
          <a:xfrm>
            <a:off x="10103658" y="3226681"/>
            <a:ext cx="39498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0FA71-DE32-D331-7EC7-2BF2A43F5E31}"/>
              </a:ext>
            </a:extLst>
          </p:cNvPr>
          <p:cNvSpPr txBox="1"/>
          <p:nvPr/>
        </p:nvSpPr>
        <p:spPr>
          <a:xfrm>
            <a:off x="10050801" y="3737808"/>
            <a:ext cx="349889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chance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14F56D-FFC6-EAEE-28F9-2117F75D1179}"/>
              </a:ext>
            </a:extLst>
          </p:cNvPr>
          <p:cNvSpPr txBox="1">
            <a:spLocks/>
          </p:cNvSpPr>
          <p:nvPr/>
        </p:nvSpPr>
        <p:spPr>
          <a:xfrm>
            <a:off x="776160" y="6328604"/>
            <a:ext cx="8837700" cy="569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Mixed-effects model: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probability of correct classification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532D0AE-093C-0B01-3B74-82D3C4BA634A}"/>
              </a:ext>
            </a:extLst>
          </p:cNvPr>
          <p:cNvSpPr txBox="1">
            <a:spLocks/>
          </p:cNvSpPr>
          <p:nvPr/>
        </p:nvSpPr>
        <p:spPr>
          <a:xfrm>
            <a:off x="804951" y="5863289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B0E92E7-DF6C-BC0C-51AD-881FFD88811E}"/>
              </a:ext>
            </a:extLst>
          </p:cNvPr>
          <p:cNvSpPr txBox="1">
            <a:spLocks/>
          </p:cNvSpPr>
          <p:nvPr/>
        </p:nvSpPr>
        <p:spPr>
          <a:xfrm>
            <a:off x="2957143" y="5855690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FCCC050-9D8E-D6D3-5186-9C3744E809EC}"/>
              </a:ext>
            </a:extLst>
          </p:cNvPr>
          <p:cNvSpPr txBox="1">
            <a:spLocks/>
          </p:cNvSpPr>
          <p:nvPr/>
        </p:nvSpPr>
        <p:spPr>
          <a:xfrm>
            <a:off x="5292656" y="5847617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07D582B-4CC5-E080-BDD0-F2672915C6AA}"/>
              </a:ext>
            </a:extLst>
          </p:cNvPr>
          <p:cNvSpPr txBox="1">
            <a:spLocks/>
          </p:cNvSpPr>
          <p:nvPr/>
        </p:nvSpPr>
        <p:spPr>
          <a:xfrm>
            <a:off x="7444848" y="5840018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57F4C6C-606E-2F53-72EF-1D552B32F8A8}"/>
              </a:ext>
            </a:extLst>
          </p:cNvPr>
          <p:cNvSpPr txBox="1">
            <a:spLocks/>
          </p:cNvSpPr>
          <p:nvPr/>
        </p:nvSpPr>
        <p:spPr>
          <a:xfrm>
            <a:off x="159737" y="5583296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1ABE27A-15BE-9A0D-AF60-F062A79C41AD}"/>
              </a:ext>
            </a:extLst>
          </p:cNvPr>
          <p:cNvSpPr txBox="1">
            <a:spLocks/>
          </p:cNvSpPr>
          <p:nvPr/>
        </p:nvSpPr>
        <p:spPr>
          <a:xfrm>
            <a:off x="171768" y="4655453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83D5F6F-EFBE-5A50-1E73-CA8730B7CF12}"/>
              </a:ext>
            </a:extLst>
          </p:cNvPr>
          <p:cNvSpPr txBox="1">
            <a:spLocks/>
          </p:cNvSpPr>
          <p:nvPr/>
        </p:nvSpPr>
        <p:spPr>
          <a:xfrm>
            <a:off x="174619" y="3698201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FD5EBE8-7572-6F42-82D1-51F8D24944DD}"/>
              </a:ext>
            </a:extLst>
          </p:cNvPr>
          <p:cNvSpPr txBox="1">
            <a:spLocks/>
          </p:cNvSpPr>
          <p:nvPr/>
        </p:nvSpPr>
        <p:spPr>
          <a:xfrm>
            <a:off x="176869" y="2713961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A45E6C4-6C8D-495A-05BD-6F406DCABEFE}"/>
              </a:ext>
            </a:extLst>
          </p:cNvPr>
          <p:cNvSpPr txBox="1">
            <a:spLocks/>
          </p:cNvSpPr>
          <p:nvPr/>
        </p:nvSpPr>
        <p:spPr>
          <a:xfrm>
            <a:off x="176869" y="1786118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376B5C7-EB4D-A095-B07B-DB68850AAFCD}"/>
              </a:ext>
            </a:extLst>
          </p:cNvPr>
          <p:cNvSpPr txBox="1">
            <a:spLocks/>
          </p:cNvSpPr>
          <p:nvPr/>
        </p:nvSpPr>
        <p:spPr>
          <a:xfrm>
            <a:off x="191752" y="828866"/>
            <a:ext cx="594723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8CE2-D7EE-DDF1-24D8-9C570A2B0E24}"/>
              </a:ext>
            </a:extLst>
          </p:cNvPr>
          <p:cNvSpPr/>
          <p:nvPr/>
        </p:nvSpPr>
        <p:spPr>
          <a:xfrm>
            <a:off x="797000" y="3347147"/>
            <a:ext cx="4321845" cy="233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6D7B321-CF0D-3B32-BAFE-0755F4594C6D}"/>
              </a:ext>
            </a:extLst>
          </p:cNvPr>
          <p:cNvSpPr/>
          <p:nvPr/>
        </p:nvSpPr>
        <p:spPr>
          <a:xfrm>
            <a:off x="5300607" y="3339548"/>
            <a:ext cx="4248909" cy="2146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80675DC-15FF-B7FD-75E5-35B52980A058}"/>
              </a:ext>
            </a:extLst>
          </p:cNvPr>
          <p:cNvCxnSpPr/>
          <p:nvPr/>
        </p:nvCxnSpPr>
        <p:spPr>
          <a:xfrm>
            <a:off x="766491" y="3429000"/>
            <a:ext cx="4220164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772CFDC-F49E-B193-9CC9-A9459277727D}"/>
              </a:ext>
            </a:extLst>
          </p:cNvPr>
          <p:cNvCxnSpPr/>
          <p:nvPr/>
        </p:nvCxnSpPr>
        <p:spPr>
          <a:xfrm>
            <a:off x="5292656" y="3429000"/>
            <a:ext cx="4220164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C90172-8B96-EDAB-A9FE-9431E8685FC5}"/>
              </a:ext>
            </a:extLst>
          </p:cNvPr>
          <p:cNvCxnSpPr>
            <a:cxnSpLocks/>
          </p:cNvCxnSpPr>
          <p:nvPr/>
        </p:nvCxnSpPr>
        <p:spPr>
          <a:xfrm>
            <a:off x="9717630" y="3919712"/>
            <a:ext cx="343804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84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FA0C-53D8-4CE0-E3A9-4F3A2359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499C1B83-206F-9573-E804-A95BD4C1F22A}"/>
              </a:ext>
            </a:extLst>
          </p:cNvPr>
          <p:cNvGrpSpPr/>
          <p:nvPr/>
        </p:nvGrpSpPr>
        <p:grpSpPr>
          <a:xfrm>
            <a:off x="726315" y="523461"/>
            <a:ext cx="10401046" cy="5731415"/>
            <a:chOff x="1631218" y="2255060"/>
            <a:chExt cx="10401046" cy="573141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6C772FE-1F15-F22A-9A31-BAA70F926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958"/>
            <a:stretch>
              <a:fillRect/>
            </a:stretch>
          </p:blipFill>
          <p:spPr>
            <a:xfrm>
              <a:off x="1631218" y="2255060"/>
              <a:ext cx="10383913" cy="573141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56A942-B98D-2E89-214A-27DF8E657557}"/>
                </a:ext>
              </a:extLst>
            </p:cNvPr>
            <p:cNvSpPr/>
            <p:nvPr/>
          </p:nvSpPr>
          <p:spPr>
            <a:xfrm>
              <a:off x="2437305" y="2278695"/>
              <a:ext cx="3069188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7268A7-40A2-2D2E-4A1E-4C7D81F08D62}"/>
                </a:ext>
              </a:extLst>
            </p:cNvPr>
            <p:cNvSpPr/>
            <p:nvPr/>
          </p:nvSpPr>
          <p:spPr>
            <a:xfrm>
              <a:off x="7034470" y="2276173"/>
              <a:ext cx="3069188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11E7BB-D538-12C3-54E5-4BC432285BF3}"/>
                </a:ext>
              </a:extLst>
            </p:cNvPr>
            <p:cNvSpPr/>
            <p:nvPr/>
          </p:nvSpPr>
          <p:spPr>
            <a:xfrm>
              <a:off x="10832438" y="4596292"/>
              <a:ext cx="1182693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52D4D78-3116-F038-9304-3D852F32EFC1}"/>
                </a:ext>
              </a:extLst>
            </p:cNvPr>
            <p:cNvSpPr/>
            <p:nvPr/>
          </p:nvSpPr>
          <p:spPr>
            <a:xfrm>
              <a:off x="11328220" y="4967743"/>
              <a:ext cx="704044" cy="61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A56CC07-4F95-BE6C-4634-1E0966CDEE15}"/>
                </a:ext>
              </a:extLst>
            </p:cNvPr>
            <p:cNvSpPr/>
            <p:nvPr/>
          </p:nvSpPr>
          <p:spPr>
            <a:xfrm>
              <a:off x="2156568" y="7619341"/>
              <a:ext cx="3069188" cy="340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D417B1E-24B8-9E54-ECC9-AD34F93B729A}"/>
                </a:ext>
              </a:extLst>
            </p:cNvPr>
            <p:cNvSpPr/>
            <p:nvPr/>
          </p:nvSpPr>
          <p:spPr>
            <a:xfrm>
              <a:off x="6753733" y="7616819"/>
              <a:ext cx="3069188" cy="340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F674BE22-6F72-91E9-DD67-8E32CFE0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496" y="52227"/>
            <a:ext cx="12407153" cy="465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Correct-trial RTs: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endorsements are slower, but congruences reduces this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BFEB8-5BE9-E5FA-424C-47CECF4F8AA3}"/>
              </a:ext>
            </a:extLst>
          </p:cNvPr>
          <p:cNvSpPr/>
          <p:nvPr/>
        </p:nvSpPr>
        <p:spPr>
          <a:xfrm>
            <a:off x="9652268" y="2928248"/>
            <a:ext cx="1389618" cy="340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695D0-559E-7690-9107-5399FBE5610F}"/>
              </a:ext>
            </a:extLst>
          </p:cNvPr>
          <p:cNvSpPr/>
          <p:nvPr/>
        </p:nvSpPr>
        <p:spPr>
          <a:xfrm>
            <a:off x="10371709" y="2928248"/>
            <a:ext cx="814560" cy="1002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36D88-29A8-56AF-1D47-C9F477DA926E}"/>
              </a:ext>
            </a:extLst>
          </p:cNvPr>
          <p:cNvSpPr/>
          <p:nvPr/>
        </p:nvSpPr>
        <p:spPr>
          <a:xfrm>
            <a:off x="6165669" y="575346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6E53A-1BF9-7FC2-184D-3211AF97DD5E}"/>
              </a:ext>
            </a:extLst>
          </p:cNvPr>
          <p:cNvSpPr/>
          <p:nvPr/>
        </p:nvSpPr>
        <p:spPr>
          <a:xfrm>
            <a:off x="1422549" y="561059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CC9FF-4E36-DEAB-D1B7-9451E86AF6EC}"/>
              </a:ext>
            </a:extLst>
          </p:cNvPr>
          <p:cNvSpPr/>
          <p:nvPr/>
        </p:nvSpPr>
        <p:spPr>
          <a:xfrm rot="16200000">
            <a:off x="-2228783" y="3001130"/>
            <a:ext cx="5467751" cy="46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EB823-A884-D383-1641-672C98C44A5A}"/>
              </a:ext>
            </a:extLst>
          </p:cNvPr>
          <p:cNvSpPr txBox="1">
            <a:spLocks/>
          </p:cNvSpPr>
          <p:nvPr/>
        </p:nvSpPr>
        <p:spPr>
          <a:xfrm>
            <a:off x="5682896" y="581517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(supports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40635-A47D-70F3-C7F3-6E73ABD403BA}"/>
              </a:ext>
            </a:extLst>
          </p:cNvPr>
          <p:cNvSpPr txBox="1"/>
          <p:nvPr/>
        </p:nvSpPr>
        <p:spPr>
          <a:xfrm>
            <a:off x="10315031" y="3188626"/>
            <a:ext cx="37538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0C32B7-BB88-1283-AC37-8E350CF89871}"/>
              </a:ext>
            </a:extLst>
          </p:cNvPr>
          <p:cNvSpPr txBox="1">
            <a:spLocks/>
          </p:cNvSpPr>
          <p:nvPr/>
        </p:nvSpPr>
        <p:spPr>
          <a:xfrm>
            <a:off x="74989" y="6328604"/>
            <a:ext cx="10240042" cy="569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mixed model on log-RT: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reaction times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correct classifications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6F7CA17-E821-4DB8-B5A3-1F635D5E6A32}"/>
              </a:ext>
            </a:extLst>
          </p:cNvPr>
          <p:cNvSpPr txBox="1">
            <a:spLocks/>
          </p:cNvSpPr>
          <p:nvPr/>
        </p:nvSpPr>
        <p:spPr>
          <a:xfrm>
            <a:off x="804951" y="5863289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9F2B52B-244A-5DDA-4F53-5EB8CBBAF022}"/>
              </a:ext>
            </a:extLst>
          </p:cNvPr>
          <p:cNvSpPr txBox="1">
            <a:spLocks/>
          </p:cNvSpPr>
          <p:nvPr/>
        </p:nvSpPr>
        <p:spPr>
          <a:xfrm>
            <a:off x="2957143" y="5855690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E41BBAB-798D-A54B-90A6-82EA24B53654}"/>
              </a:ext>
            </a:extLst>
          </p:cNvPr>
          <p:cNvSpPr txBox="1">
            <a:spLocks/>
          </p:cNvSpPr>
          <p:nvPr/>
        </p:nvSpPr>
        <p:spPr>
          <a:xfrm>
            <a:off x="5292656" y="5847617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2BE3C8D-7C0D-1077-96FE-C197A0DB75F5}"/>
              </a:ext>
            </a:extLst>
          </p:cNvPr>
          <p:cNvSpPr txBox="1">
            <a:spLocks/>
          </p:cNvSpPr>
          <p:nvPr/>
        </p:nvSpPr>
        <p:spPr>
          <a:xfrm>
            <a:off x="7444848" y="5840018"/>
            <a:ext cx="2029512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headlines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7D3ADE0-B527-828C-D2E0-289AA3088A37}"/>
              </a:ext>
            </a:extLst>
          </p:cNvPr>
          <p:cNvSpPr txBox="1">
            <a:spLocks/>
          </p:cNvSpPr>
          <p:nvPr/>
        </p:nvSpPr>
        <p:spPr>
          <a:xfrm>
            <a:off x="42975" y="5583296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108D4D-76AE-6069-C635-34DAD2C673AA}"/>
              </a:ext>
            </a:extLst>
          </p:cNvPr>
          <p:cNvSpPr txBox="1">
            <a:spLocks/>
          </p:cNvSpPr>
          <p:nvPr/>
        </p:nvSpPr>
        <p:spPr>
          <a:xfrm>
            <a:off x="55006" y="4523105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49CC404-F0B1-4577-E461-55968CFA0B47}"/>
              </a:ext>
            </a:extLst>
          </p:cNvPr>
          <p:cNvSpPr txBox="1">
            <a:spLocks/>
          </p:cNvSpPr>
          <p:nvPr/>
        </p:nvSpPr>
        <p:spPr>
          <a:xfrm>
            <a:off x="57857" y="3469601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FF4B59E-0035-B611-38E7-A16D878C2987}"/>
              </a:ext>
            </a:extLst>
          </p:cNvPr>
          <p:cNvSpPr txBox="1">
            <a:spLocks/>
          </p:cNvSpPr>
          <p:nvPr/>
        </p:nvSpPr>
        <p:spPr>
          <a:xfrm>
            <a:off x="60107" y="2389109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42A6732-7013-AF1E-56C4-CE927A336485}"/>
              </a:ext>
            </a:extLst>
          </p:cNvPr>
          <p:cNvSpPr txBox="1">
            <a:spLocks/>
          </p:cNvSpPr>
          <p:nvPr/>
        </p:nvSpPr>
        <p:spPr>
          <a:xfrm>
            <a:off x="60107" y="1316888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AC9FA7-58AE-FCDB-2DA5-7CCC1495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67" t="59467" r="18364" b="14377"/>
          <a:stretch>
            <a:fillRect/>
          </a:stretch>
        </p:blipFill>
        <p:spPr>
          <a:xfrm>
            <a:off x="1191632" y="1248911"/>
            <a:ext cx="3551961" cy="14991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38C83-67AD-BDF1-7752-995D0B1365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9" t="8520" r="57632" b="74251"/>
          <a:stretch>
            <a:fillRect/>
          </a:stretch>
        </p:blipFill>
        <p:spPr bwMode="auto">
          <a:xfrm>
            <a:off x="1631576" y="1782203"/>
            <a:ext cx="2637396" cy="8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51AB730-1438-1863-4F0A-6C41B5FDB21A}"/>
              </a:ext>
            </a:extLst>
          </p:cNvPr>
          <p:cNvSpPr txBox="1">
            <a:spLocks/>
          </p:cNvSpPr>
          <p:nvPr/>
        </p:nvSpPr>
        <p:spPr>
          <a:xfrm>
            <a:off x="804951" y="626177"/>
            <a:ext cx="4034734" cy="752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(opposes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D8D34D-A5FB-637C-ADDA-0D3E62260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83" t="8520" r="19664" b="74251"/>
          <a:stretch>
            <a:fillRect/>
          </a:stretch>
        </p:blipFill>
        <p:spPr bwMode="auto">
          <a:xfrm>
            <a:off x="6129567" y="1775853"/>
            <a:ext cx="2697764" cy="834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823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3E7D-3F47-C75D-EBC6-994D79C7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FC14DD82-F683-CCBB-7C01-42F80E1E0DC6}"/>
              </a:ext>
            </a:extLst>
          </p:cNvPr>
          <p:cNvGrpSpPr/>
          <p:nvPr/>
        </p:nvGrpSpPr>
        <p:grpSpPr>
          <a:xfrm>
            <a:off x="771593" y="500408"/>
            <a:ext cx="10401046" cy="5731415"/>
            <a:chOff x="1631218" y="2255060"/>
            <a:chExt cx="10401046" cy="573141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73EB077-3C16-C79D-FFF3-B278FFBFC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958"/>
            <a:stretch>
              <a:fillRect/>
            </a:stretch>
          </p:blipFill>
          <p:spPr>
            <a:xfrm>
              <a:off x="1631218" y="2255060"/>
              <a:ext cx="10383913" cy="573141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0B59FBE-401E-2A2B-FD70-F9BBAC5ECF82}"/>
                </a:ext>
              </a:extLst>
            </p:cNvPr>
            <p:cNvSpPr/>
            <p:nvPr/>
          </p:nvSpPr>
          <p:spPr>
            <a:xfrm>
              <a:off x="2437305" y="2278695"/>
              <a:ext cx="3069188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DB70EE-F62B-BF1C-7627-A106AE7374A1}"/>
                </a:ext>
              </a:extLst>
            </p:cNvPr>
            <p:cNvSpPr/>
            <p:nvPr/>
          </p:nvSpPr>
          <p:spPr>
            <a:xfrm>
              <a:off x="7034470" y="2276173"/>
              <a:ext cx="3069188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613814-2906-AFA3-9833-81C73D01E9ED}"/>
                </a:ext>
              </a:extLst>
            </p:cNvPr>
            <p:cNvSpPr/>
            <p:nvPr/>
          </p:nvSpPr>
          <p:spPr>
            <a:xfrm>
              <a:off x="10832438" y="4596292"/>
              <a:ext cx="1182693" cy="42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F595EDA-C420-7C2A-A07E-7BAA55E14A25}"/>
                </a:ext>
              </a:extLst>
            </p:cNvPr>
            <p:cNvSpPr/>
            <p:nvPr/>
          </p:nvSpPr>
          <p:spPr>
            <a:xfrm>
              <a:off x="11328220" y="4967743"/>
              <a:ext cx="704044" cy="61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3C9C73-D418-E74B-258C-94B26AB5096D}"/>
                </a:ext>
              </a:extLst>
            </p:cNvPr>
            <p:cNvSpPr/>
            <p:nvPr/>
          </p:nvSpPr>
          <p:spPr>
            <a:xfrm>
              <a:off x="2156568" y="7619341"/>
              <a:ext cx="3069188" cy="340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BD38D67-87D3-B798-31F2-3D2E12277661}"/>
                </a:ext>
              </a:extLst>
            </p:cNvPr>
            <p:cNvSpPr/>
            <p:nvPr/>
          </p:nvSpPr>
          <p:spPr>
            <a:xfrm>
              <a:off x="6753733" y="7616819"/>
              <a:ext cx="3069188" cy="3404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2D80B808-1390-262A-EBA4-3BEA1ABD6C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496" y="52227"/>
                <a:ext cx="12407153" cy="4653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Correct-trial 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Truth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cost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RT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True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correct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RT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False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correct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</a:p>
              <a:p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2D80B808-1390-262A-EBA4-3BEA1ABD6C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496" y="52227"/>
                <a:ext cx="12407153" cy="465315"/>
              </a:xfrm>
              <a:blipFill>
                <a:blip r:embed="rId3"/>
                <a:stretch>
                  <a:fillRect l="-885" t="-21053" b="-30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4C59D7E-165A-A179-8050-98AB156615CE}"/>
              </a:ext>
            </a:extLst>
          </p:cNvPr>
          <p:cNvSpPr/>
          <p:nvPr/>
        </p:nvSpPr>
        <p:spPr>
          <a:xfrm>
            <a:off x="9652268" y="2928248"/>
            <a:ext cx="1389618" cy="340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EAFAF-0FED-6E30-8D7C-383E44F002E5}"/>
              </a:ext>
            </a:extLst>
          </p:cNvPr>
          <p:cNvSpPr/>
          <p:nvPr/>
        </p:nvSpPr>
        <p:spPr>
          <a:xfrm>
            <a:off x="10371709" y="2928248"/>
            <a:ext cx="814560" cy="1002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9A9E4-2F3A-756A-FB30-B2A467FC677A}"/>
              </a:ext>
            </a:extLst>
          </p:cNvPr>
          <p:cNvSpPr/>
          <p:nvPr/>
        </p:nvSpPr>
        <p:spPr>
          <a:xfrm>
            <a:off x="6165669" y="575346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0669E4-4443-8147-BFB8-F057A6FE0E14}"/>
              </a:ext>
            </a:extLst>
          </p:cNvPr>
          <p:cNvSpPr/>
          <p:nvPr/>
        </p:nvSpPr>
        <p:spPr>
          <a:xfrm>
            <a:off x="1422549" y="561059"/>
            <a:ext cx="3069188" cy="42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75891B-B3AE-47B6-9CB8-C4911A3EE22C}"/>
              </a:ext>
            </a:extLst>
          </p:cNvPr>
          <p:cNvSpPr txBox="1">
            <a:spLocks/>
          </p:cNvSpPr>
          <p:nvPr/>
        </p:nvSpPr>
        <p:spPr>
          <a:xfrm>
            <a:off x="5682896" y="581517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(supports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62B0C-1096-1597-E5F2-AE0EF3874F78}"/>
              </a:ext>
            </a:extLst>
          </p:cNvPr>
          <p:cNvSpPr txBox="1"/>
          <p:nvPr/>
        </p:nvSpPr>
        <p:spPr>
          <a:xfrm>
            <a:off x="10315031" y="3188626"/>
            <a:ext cx="37538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Clickbait</a:t>
            </a:r>
            <a:endParaRPr lang="en-A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9A3910B-E859-9738-9253-581C22F79E70}"/>
              </a:ext>
            </a:extLst>
          </p:cNvPr>
          <p:cNvSpPr txBox="1">
            <a:spLocks/>
          </p:cNvSpPr>
          <p:nvPr/>
        </p:nvSpPr>
        <p:spPr>
          <a:xfrm>
            <a:off x="74989" y="6328604"/>
            <a:ext cx="10240042" cy="569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mixed model on log-RT: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reaction times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correct classifications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20CEB00-FEDB-D026-A79E-249F63B2DEFA}"/>
              </a:ext>
            </a:extLst>
          </p:cNvPr>
          <p:cNvSpPr txBox="1">
            <a:spLocks/>
          </p:cNvSpPr>
          <p:nvPr/>
        </p:nvSpPr>
        <p:spPr>
          <a:xfrm>
            <a:off x="60107" y="2389109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DCDAF12-BC8B-1B8E-EE8A-F381D000D49E}"/>
              </a:ext>
            </a:extLst>
          </p:cNvPr>
          <p:cNvSpPr txBox="1">
            <a:spLocks/>
          </p:cNvSpPr>
          <p:nvPr/>
        </p:nvSpPr>
        <p:spPr>
          <a:xfrm>
            <a:off x="60107" y="1316888"/>
            <a:ext cx="711486" cy="465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4000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E07C19-F933-CC02-30A8-71044F2E5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67" t="59467" r="18364" b="14377"/>
          <a:stretch>
            <a:fillRect/>
          </a:stretch>
        </p:blipFill>
        <p:spPr>
          <a:xfrm>
            <a:off x="1191632" y="1227645"/>
            <a:ext cx="3551961" cy="14991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88041E-B799-48A1-A93F-C7F112DA91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9" t="8520" r="57632" b="74251"/>
          <a:stretch>
            <a:fillRect/>
          </a:stretch>
        </p:blipFill>
        <p:spPr bwMode="auto">
          <a:xfrm>
            <a:off x="1631576" y="1750303"/>
            <a:ext cx="2637396" cy="8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848C454-BD14-EE27-DFCC-218F3F6B9277}"/>
              </a:ext>
            </a:extLst>
          </p:cNvPr>
          <p:cNvSpPr txBox="1">
            <a:spLocks/>
          </p:cNvSpPr>
          <p:nvPr/>
        </p:nvSpPr>
        <p:spPr>
          <a:xfrm>
            <a:off x="804951" y="626177"/>
            <a:ext cx="4034734" cy="752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Incongruent</a:t>
            </a:r>
          </a:p>
          <a:p>
            <a:pPr algn="ctr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(opposes judge)</a:t>
            </a:r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890BBE3-B030-325F-5DF3-92555B01C8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83" t="8520" r="19664" b="74251"/>
          <a:stretch>
            <a:fillRect/>
          </a:stretch>
        </p:blipFill>
        <p:spPr bwMode="auto">
          <a:xfrm>
            <a:off x="6129567" y="1775853"/>
            <a:ext cx="2697764" cy="834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192914C-D6CB-A55C-675C-D29EB9B02897}"/>
              </a:ext>
            </a:extLst>
          </p:cNvPr>
          <p:cNvGrpSpPr/>
          <p:nvPr/>
        </p:nvGrpSpPr>
        <p:grpSpPr>
          <a:xfrm>
            <a:off x="908503" y="2771626"/>
            <a:ext cx="8726632" cy="3052287"/>
            <a:chOff x="191386" y="3276317"/>
            <a:chExt cx="8726632" cy="305228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AB664DA-9C91-AB15-868A-6753DDBD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9" t="47746" r="26853" b="7191"/>
            <a:stretch>
              <a:fillRect/>
            </a:stretch>
          </p:blipFill>
          <p:spPr>
            <a:xfrm>
              <a:off x="191386" y="3276317"/>
              <a:ext cx="8726632" cy="30522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5735BFC-791A-2133-A9D8-256F0C2417CD}"/>
                </a:ext>
              </a:extLst>
            </p:cNvPr>
            <p:cNvSpPr/>
            <p:nvPr/>
          </p:nvSpPr>
          <p:spPr>
            <a:xfrm>
              <a:off x="8463516" y="4072270"/>
              <a:ext cx="454502" cy="999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20884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5522A965-BA8B-172F-F935-0B40AFCE0F7A}"/>
              </a:ext>
            </a:extLst>
          </p:cNvPr>
          <p:cNvSpPr txBox="1">
            <a:spLocks/>
          </p:cNvSpPr>
          <p:nvPr/>
        </p:nvSpPr>
        <p:spPr>
          <a:xfrm>
            <a:off x="346601" y="81545"/>
            <a:ext cx="11498797" cy="1858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response-coded DDM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5235 trials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BC5873-0EDC-18B9-27D4-581A68E65CEF}"/>
              </a:ext>
            </a:extLst>
          </p:cNvPr>
          <p:cNvGrpSpPr/>
          <p:nvPr/>
        </p:nvGrpSpPr>
        <p:grpSpPr>
          <a:xfrm>
            <a:off x="-107911" y="1010960"/>
            <a:ext cx="5701888" cy="5102185"/>
            <a:chOff x="548735" y="560059"/>
            <a:chExt cx="7095937" cy="634961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59497BD-2903-62D9-AE9E-174058846A37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1769931"/>
              <a:ext cx="600419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A634825-B4A8-6E3A-2681-589B8B4D984F}"/>
                    </a:ext>
                  </a:extLst>
                </p:cNvPr>
                <p:cNvSpPr txBox="1"/>
                <p:nvPr/>
              </p:nvSpPr>
              <p:spPr>
                <a:xfrm rot="5400000">
                  <a:off x="13604" y="5206370"/>
                  <a:ext cx="2822488" cy="421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0000500000000000000" pitchFamily="2" charset="0"/>
                    </a:rPr>
                    <a:t>Starting point (</a:t>
                  </a:r>
                  <a14:m>
                    <m:oMath xmlns:m="http://schemas.openxmlformats.org/officeDocument/2006/math">
                      <m:r>
                        <a:rPr lang="en-AU" sz="16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AU" sz="1600" dirty="0">
                      <a:latin typeface="Barlow" panose="00000500000000000000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A634825-B4A8-6E3A-2681-589B8B4D9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3604" y="5206370"/>
                  <a:ext cx="2822488" cy="421327"/>
                </a:xfrm>
                <a:prstGeom prst="rect">
                  <a:avLst/>
                </a:prstGeom>
                <a:blipFill>
                  <a:blip r:embed="rId2"/>
                  <a:stretch>
                    <a:fillRect l="-21429" t="-1344" r="-535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7DE45F9-3FFD-19C3-5716-710C237A4392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3687449"/>
              <a:ext cx="6210281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914182F-C29E-96F5-0850-B3AE74BF88E9}"/>
                    </a:ext>
                  </a:extLst>
                </p:cNvPr>
                <p:cNvSpPr txBox="1"/>
                <p:nvPr/>
              </p:nvSpPr>
              <p:spPr>
                <a:xfrm>
                  <a:off x="6102678" y="3221257"/>
                  <a:ext cx="1455078" cy="421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0000500000000000000" pitchFamily="2" charset="0"/>
                    </a:rPr>
                    <a:t>Time (</a:t>
                  </a:r>
                  <a14:m>
                    <m:oMath xmlns:m="http://schemas.openxmlformats.org/officeDocument/2006/math">
                      <m:r>
                        <a:rPr lang="en-AU" sz="1600" b="0" i="1" dirty="0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a14:m>
                  <a:r>
                    <a:rPr lang="en-AU" sz="1600" dirty="0">
                      <a:latin typeface="Barlow" panose="00000500000000000000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914182F-C29E-96F5-0850-B3AE74BF8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2678" y="3221257"/>
                  <a:ext cx="1455078" cy="421327"/>
                </a:xfrm>
                <a:prstGeom prst="rect">
                  <a:avLst/>
                </a:prstGeom>
                <a:blipFill>
                  <a:blip r:embed="rId3"/>
                  <a:stretch>
                    <a:fillRect l="-2604" t="-5455" b="-2363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56EBB50-FAC2-91D0-9F06-50B9C58EBA09}"/>
                </a:ext>
              </a:extLst>
            </p:cNvPr>
            <p:cNvGrpSpPr/>
            <p:nvPr/>
          </p:nvGrpSpPr>
          <p:grpSpPr>
            <a:xfrm>
              <a:off x="2208775" y="560059"/>
              <a:ext cx="5244367" cy="1166961"/>
              <a:chOff x="13642258" y="30586073"/>
              <a:chExt cx="6857217" cy="125009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0CCA08A-0C0B-BE58-AD13-870161D51C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7731"/>
              <a:stretch/>
            </p:blipFill>
            <p:spPr>
              <a:xfrm>
                <a:off x="13642258" y="30586073"/>
                <a:ext cx="6857217" cy="1250094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A699553-E490-A8EF-3AF7-07FEECFEA84A}"/>
                  </a:ext>
                </a:extLst>
              </p:cNvPr>
              <p:cNvSpPr/>
              <p:nvPr/>
            </p:nvSpPr>
            <p:spPr>
              <a:xfrm>
                <a:off x="17747833" y="31143879"/>
                <a:ext cx="1316335" cy="1540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78862EB-076C-C6F4-BAE2-2922F3102B59}"/>
                </a:ext>
              </a:extLst>
            </p:cNvPr>
            <p:cNvGrpSpPr/>
            <p:nvPr/>
          </p:nvGrpSpPr>
          <p:grpSpPr>
            <a:xfrm>
              <a:off x="2208775" y="6239518"/>
              <a:ext cx="5288443" cy="670155"/>
              <a:chOff x="13642258" y="35984329"/>
              <a:chExt cx="6857217" cy="71789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100D215-6139-40DB-8821-A01DF60DD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4029"/>
              <a:stretch/>
            </p:blipFill>
            <p:spPr>
              <a:xfrm>
                <a:off x="13642258" y="35984329"/>
                <a:ext cx="6857217" cy="717896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CAAEF2-57D1-F747-9D3C-4CBD6FF4440F}"/>
                  </a:ext>
                </a:extLst>
              </p:cNvPr>
              <p:cNvSpPr/>
              <p:nvPr/>
            </p:nvSpPr>
            <p:spPr>
              <a:xfrm>
                <a:off x="17589531" y="36397682"/>
                <a:ext cx="1350335" cy="2173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83096F-A73C-B055-2ACC-E1FBC09EAB6A}"/>
                </a:ext>
              </a:extLst>
            </p:cNvPr>
            <p:cNvSpPr txBox="1"/>
            <p:nvPr/>
          </p:nvSpPr>
          <p:spPr>
            <a:xfrm>
              <a:off x="5075625" y="6372887"/>
              <a:ext cx="2377517" cy="421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latin typeface="Barlow" panose="00000500000000000000" pitchFamily="2" charset="0"/>
                </a:rPr>
                <a:t>R</a:t>
              </a:r>
              <a:r>
                <a:rPr lang="en-AU" sz="1600" b="1" dirty="0">
                  <a:latin typeface="Barlow" panose="00000500000000000000" pitchFamily="2" charset="0"/>
                </a:rPr>
                <a:t>eject as </a:t>
              </a:r>
              <a:r>
                <a:rPr lang="en-AU" sz="1600" b="1" i="1" dirty="0">
                  <a:latin typeface="Barlow" panose="00000500000000000000" pitchFamily="2" charset="0"/>
                </a:rPr>
                <a:t>false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6348FE-ADCF-9DBC-B70D-ACA0EDA48F61}"/>
                </a:ext>
              </a:extLst>
            </p:cNvPr>
            <p:cNvSpPr txBox="1"/>
            <p:nvPr/>
          </p:nvSpPr>
          <p:spPr>
            <a:xfrm>
              <a:off x="548735" y="731190"/>
              <a:ext cx="2377517" cy="421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1600" b="1" dirty="0">
                  <a:latin typeface="Barlow" panose="00000500000000000000" pitchFamily="2" charset="0"/>
                </a:rPr>
                <a:t>Accept as </a:t>
              </a:r>
              <a:r>
                <a:rPr lang="en-AU" sz="1600" b="1" i="1" dirty="0">
                  <a:latin typeface="Barlow" panose="00000500000000000000" pitchFamily="2" charset="0"/>
                </a:rPr>
                <a:t>true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88748F9-5AE9-2EAD-19F9-65A1F3669F2E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83" y="6174218"/>
              <a:ext cx="568838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F36F472-DD1E-F66F-9FAF-DECF5A8E2A8F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3887552"/>
              <a:ext cx="600419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293C-9BF3-EAB5-544D-DB22994B69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443" y="1798826"/>
              <a:ext cx="0" cy="43753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66F509-5DEE-2C01-459A-43239C28B7D4}"/>
                </a:ext>
              </a:extLst>
            </p:cNvPr>
            <p:cNvCxnSpPr/>
            <p:nvPr/>
          </p:nvCxnSpPr>
          <p:spPr>
            <a:xfrm>
              <a:off x="1302848" y="2250075"/>
              <a:ext cx="954969" cy="0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817D195-7713-639C-CA94-FEAEFA2D7C01}"/>
                </a:ext>
              </a:extLst>
            </p:cNvPr>
            <p:cNvCxnSpPr>
              <a:cxnSpLocks/>
            </p:cNvCxnSpPr>
            <p:nvPr/>
          </p:nvCxnSpPr>
          <p:spPr>
            <a:xfrm>
              <a:off x="1817614" y="3975936"/>
              <a:ext cx="0" cy="2075668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8FEDEC-331A-364F-8C47-2528E5822891}"/>
                    </a:ext>
                  </a:extLst>
                </p:cNvPr>
                <p:cNvSpPr txBox="1"/>
                <p:nvPr/>
              </p:nvSpPr>
              <p:spPr>
                <a:xfrm>
                  <a:off x="1014868" y="2322431"/>
                  <a:ext cx="5184486" cy="758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20F0502020204030204" pitchFamily="2" charset="0"/>
                    </a:rPr>
                    <a:t>Encoding</a:t>
                  </a:r>
                </a:p>
                <a:p>
                  <a:r>
                    <a:rPr lang="en-AU" sz="1600" dirty="0">
                      <a:latin typeface="Barlow" panose="020F0502020204030204" pitchFamily="2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𝑇𝑒𝑟</m:t>
                      </m:r>
                    </m:oMath>
                  </a14:m>
                  <a:r>
                    <a:rPr lang="en-AU" sz="1600" dirty="0">
                      <a:latin typeface="Barlow" panose="020F0502020204030204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8FEDEC-331A-364F-8C47-2528E5822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868" y="2322431"/>
                  <a:ext cx="5184486" cy="758150"/>
                </a:xfrm>
                <a:prstGeom prst="rect">
                  <a:avLst/>
                </a:prstGeom>
                <a:blipFill>
                  <a:blip r:embed="rId6"/>
                  <a:stretch>
                    <a:fillRect l="-878" t="-3000" b="-110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2120F0-8962-66AC-1EC9-2D6CD3BDA816}"/>
                </a:ext>
              </a:extLst>
            </p:cNvPr>
            <p:cNvCxnSpPr/>
            <p:nvPr/>
          </p:nvCxnSpPr>
          <p:spPr>
            <a:xfrm flipV="1">
              <a:off x="2302443" y="2582466"/>
              <a:ext cx="1929951" cy="13050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BF22C2F-23B6-F252-0596-9E6F1D74D209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72" y="1769931"/>
              <a:ext cx="0" cy="4404287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D53063-36EA-7139-5ED1-76CD3EBD5A75}"/>
                  </a:ext>
                </a:extLst>
              </p:cNvPr>
              <p:cNvSpPr txBox="1"/>
              <p:nvPr/>
            </p:nvSpPr>
            <p:spPr>
              <a:xfrm>
                <a:off x="2844223" y="2469197"/>
                <a:ext cx="11692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Barlow" panose="00000500000000000000" pitchFamily="2" charset="0"/>
                  </a:rPr>
                  <a:t>Drift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AU" sz="1600" dirty="0">
                    <a:latin typeface="Barlow" panose="00000500000000000000" pitchFamily="2" charset="0"/>
                  </a:rPr>
                  <a:t>)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D53063-36EA-7139-5ED1-76CD3EBD5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223" y="2469197"/>
                <a:ext cx="1169217" cy="338554"/>
              </a:xfrm>
              <a:prstGeom prst="rect">
                <a:avLst/>
              </a:prstGeom>
              <a:blipFill>
                <a:blip r:embed="rId7"/>
                <a:stretch>
                  <a:fillRect l="-3141" t="-5357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20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175F-7ACD-B15D-70B8-687672C4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66605112-CB47-B558-7D70-85F53D986524}"/>
              </a:ext>
            </a:extLst>
          </p:cNvPr>
          <p:cNvSpPr txBox="1">
            <a:spLocks/>
          </p:cNvSpPr>
          <p:nvPr/>
        </p:nvSpPr>
        <p:spPr>
          <a:xfrm>
            <a:off x="346601" y="81545"/>
            <a:ext cx="11498797" cy="1858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response-coded DDM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5235 trials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43AEF1-26A7-2E9C-301B-356DBAB98C5C}"/>
              </a:ext>
            </a:extLst>
          </p:cNvPr>
          <p:cNvGrpSpPr/>
          <p:nvPr/>
        </p:nvGrpSpPr>
        <p:grpSpPr>
          <a:xfrm>
            <a:off x="-107911" y="1010960"/>
            <a:ext cx="5701888" cy="5255629"/>
            <a:chOff x="548735" y="560059"/>
            <a:chExt cx="7095937" cy="65405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381A683-BA7C-7BBC-A33E-2B1649B508CB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1769931"/>
              <a:ext cx="600419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AD49BEB-B656-205B-3804-E72893D7196A}"/>
                    </a:ext>
                  </a:extLst>
                </p:cNvPr>
                <p:cNvSpPr txBox="1"/>
                <p:nvPr/>
              </p:nvSpPr>
              <p:spPr>
                <a:xfrm rot="5400000">
                  <a:off x="13604" y="5206370"/>
                  <a:ext cx="2822488" cy="421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0000500000000000000" pitchFamily="2" charset="0"/>
                    </a:rPr>
                    <a:t>Starting point (</a:t>
                  </a:r>
                  <a14:m>
                    <m:oMath xmlns:m="http://schemas.openxmlformats.org/officeDocument/2006/math">
                      <m:r>
                        <a:rPr lang="en-AU" sz="16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AU" sz="1600" dirty="0">
                      <a:latin typeface="Barlow" panose="00000500000000000000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AD49BEB-B656-205B-3804-E72893D71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3604" y="5206370"/>
                  <a:ext cx="2822488" cy="421327"/>
                </a:xfrm>
                <a:prstGeom prst="rect">
                  <a:avLst/>
                </a:prstGeom>
                <a:blipFill>
                  <a:blip r:embed="rId2"/>
                  <a:stretch>
                    <a:fillRect l="-21429" t="-1344" r="-535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EE674D4-30A1-02E1-0034-E3F57ACABF96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3687449"/>
              <a:ext cx="6210281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ADC0A8A-F3AA-50D2-DDAD-F72297E6AB83}"/>
                    </a:ext>
                  </a:extLst>
                </p:cNvPr>
                <p:cNvSpPr txBox="1"/>
                <p:nvPr/>
              </p:nvSpPr>
              <p:spPr>
                <a:xfrm>
                  <a:off x="6102678" y="3221257"/>
                  <a:ext cx="1455078" cy="421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0000500000000000000" pitchFamily="2" charset="0"/>
                    </a:rPr>
                    <a:t>Time (</a:t>
                  </a:r>
                  <a14:m>
                    <m:oMath xmlns:m="http://schemas.openxmlformats.org/officeDocument/2006/math">
                      <m:r>
                        <a:rPr lang="en-AU" sz="1600" b="0" i="1" dirty="0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a14:m>
                  <a:r>
                    <a:rPr lang="en-AU" sz="1600" dirty="0">
                      <a:latin typeface="Barlow" panose="00000500000000000000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ADC0A8A-F3AA-50D2-DDAD-F72297E6A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2678" y="3221257"/>
                  <a:ext cx="1455078" cy="421327"/>
                </a:xfrm>
                <a:prstGeom prst="rect">
                  <a:avLst/>
                </a:prstGeom>
                <a:blipFill>
                  <a:blip r:embed="rId3"/>
                  <a:stretch>
                    <a:fillRect l="-2604" t="-5455" b="-2363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8C04B9-7AF4-4AD5-A4DB-D14ADC8EE296}"/>
                </a:ext>
              </a:extLst>
            </p:cNvPr>
            <p:cNvGrpSpPr/>
            <p:nvPr/>
          </p:nvGrpSpPr>
          <p:grpSpPr>
            <a:xfrm>
              <a:off x="2208775" y="560059"/>
              <a:ext cx="5244367" cy="1166961"/>
              <a:chOff x="13642258" y="30586073"/>
              <a:chExt cx="6857217" cy="125009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58C3895-66FE-8712-AE75-726FF7D4E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7731"/>
              <a:stretch/>
            </p:blipFill>
            <p:spPr>
              <a:xfrm>
                <a:off x="13642258" y="30586073"/>
                <a:ext cx="6857217" cy="1250094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838D8C2-1AC1-4A7C-B186-173C30A61B6D}"/>
                  </a:ext>
                </a:extLst>
              </p:cNvPr>
              <p:cNvSpPr/>
              <p:nvPr/>
            </p:nvSpPr>
            <p:spPr>
              <a:xfrm>
                <a:off x="17747833" y="31143879"/>
                <a:ext cx="1316335" cy="1540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3AB129B-1590-00B6-B4CF-F6EF92EB5367}"/>
                </a:ext>
              </a:extLst>
            </p:cNvPr>
            <p:cNvGrpSpPr/>
            <p:nvPr/>
          </p:nvGrpSpPr>
          <p:grpSpPr>
            <a:xfrm>
              <a:off x="2208775" y="6239518"/>
              <a:ext cx="5288443" cy="670155"/>
              <a:chOff x="13642258" y="35984329"/>
              <a:chExt cx="6857217" cy="71789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8640BDB-C79E-9D35-F060-AD1F6B28C0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4029"/>
              <a:stretch/>
            </p:blipFill>
            <p:spPr>
              <a:xfrm>
                <a:off x="13642258" y="35984329"/>
                <a:ext cx="6857217" cy="717896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9C42E8-763B-AC0A-1E8F-6D6C2EA7AFCE}"/>
                  </a:ext>
                </a:extLst>
              </p:cNvPr>
              <p:cNvSpPr/>
              <p:nvPr/>
            </p:nvSpPr>
            <p:spPr>
              <a:xfrm>
                <a:off x="17589531" y="36397682"/>
                <a:ext cx="1350335" cy="2173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34075A-BD52-155B-77D0-184FCCDA5416}"/>
                </a:ext>
              </a:extLst>
            </p:cNvPr>
            <p:cNvSpPr txBox="1"/>
            <p:nvPr/>
          </p:nvSpPr>
          <p:spPr>
            <a:xfrm>
              <a:off x="5075625" y="6372887"/>
              <a:ext cx="2377517" cy="72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Barlow" panose="00000500000000000000" pitchFamily="2" charset="0"/>
                </a:rPr>
                <a:t>R</a:t>
              </a:r>
              <a:r>
                <a:rPr lang="en-AU" sz="1600" b="1" dirty="0">
                  <a:solidFill>
                    <a:srgbClr val="FF0000"/>
                  </a:solidFill>
                  <a:latin typeface="Barlow" panose="00000500000000000000" pitchFamily="2" charset="0"/>
                </a:rPr>
                <a:t>eject a </a:t>
              </a:r>
              <a:r>
                <a:rPr lang="en-AU" sz="1600" b="1" i="1" dirty="0">
                  <a:solidFill>
                    <a:srgbClr val="FF0000"/>
                  </a:solidFill>
                  <a:latin typeface="Barlow" panose="00000500000000000000" pitchFamily="2" charset="0"/>
                </a:rPr>
                <a:t>false </a:t>
              </a:r>
              <a:r>
                <a:rPr lang="en-AU" sz="1600" b="1" dirty="0">
                  <a:solidFill>
                    <a:srgbClr val="FF0000"/>
                  </a:solidFill>
                  <a:latin typeface="Barlow" panose="00000500000000000000" pitchFamily="2" charset="0"/>
                </a:rPr>
                <a:t>headline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B4E131-785B-E9B5-973D-4EF9102C7DD7}"/>
                </a:ext>
              </a:extLst>
            </p:cNvPr>
            <p:cNvSpPr txBox="1"/>
            <p:nvPr/>
          </p:nvSpPr>
          <p:spPr>
            <a:xfrm>
              <a:off x="548735" y="731190"/>
              <a:ext cx="2377517" cy="72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1600" b="1" dirty="0">
                  <a:solidFill>
                    <a:srgbClr val="FF0000"/>
                  </a:solidFill>
                  <a:latin typeface="Barlow" panose="00000500000000000000" pitchFamily="2" charset="0"/>
                </a:rPr>
                <a:t>Accept a </a:t>
              </a:r>
              <a:r>
                <a:rPr lang="en-AU" sz="1600" b="1" i="1" dirty="0">
                  <a:solidFill>
                    <a:srgbClr val="FF0000"/>
                  </a:solidFill>
                  <a:latin typeface="Barlow" panose="00000500000000000000" pitchFamily="2" charset="0"/>
                </a:rPr>
                <a:t>true</a:t>
              </a:r>
              <a:r>
                <a:rPr lang="en-AU" sz="1600" b="1" dirty="0">
                  <a:solidFill>
                    <a:srgbClr val="FF0000"/>
                  </a:solidFill>
                  <a:latin typeface="Barlow" panose="00000500000000000000" pitchFamily="2" charset="0"/>
                </a:rPr>
                <a:t> headline</a:t>
              </a:r>
              <a:endParaRPr lang="en-AU" sz="1600" b="1" i="1" dirty="0">
                <a:solidFill>
                  <a:srgbClr val="FF0000"/>
                </a:solidFill>
                <a:latin typeface="Barlow" panose="00000500000000000000" pitchFamily="2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3124BA-E24E-CA00-CC51-ECB8A6A232AE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83" y="6174218"/>
              <a:ext cx="568838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12EDF1-AD3D-F20A-6D7D-82F37D12D566}"/>
                </a:ext>
              </a:extLst>
            </p:cNvPr>
            <p:cNvCxnSpPr>
              <a:cxnSpLocks/>
            </p:cNvCxnSpPr>
            <p:nvPr/>
          </p:nvCxnSpPr>
          <p:spPr>
            <a:xfrm>
              <a:off x="1347475" y="3887552"/>
              <a:ext cx="600419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95D613-5B72-2CE3-DE76-C6FB01EA1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443" y="1798826"/>
              <a:ext cx="0" cy="43753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7E70E93-1B00-B4CD-7DCA-5A03E5991C05}"/>
                </a:ext>
              </a:extLst>
            </p:cNvPr>
            <p:cNvCxnSpPr/>
            <p:nvPr/>
          </p:nvCxnSpPr>
          <p:spPr>
            <a:xfrm>
              <a:off x="1302848" y="2250075"/>
              <a:ext cx="954969" cy="0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9F43C56-C980-E7BC-E9B1-DB52CEE4C96F}"/>
                </a:ext>
              </a:extLst>
            </p:cNvPr>
            <p:cNvCxnSpPr>
              <a:cxnSpLocks/>
            </p:cNvCxnSpPr>
            <p:nvPr/>
          </p:nvCxnSpPr>
          <p:spPr>
            <a:xfrm>
              <a:off x="1817614" y="3975936"/>
              <a:ext cx="0" cy="2075668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3FF50A-F49B-FAA6-7698-E3E8C57DE069}"/>
                    </a:ext>
                  </a:extLst>
                </p:cNvPr>
                <p:cNvSpPr txBox="1"/>
                <p:nvPr/>
              </p:nvSpPr>
              <p:spPr>
                <a:xfrm>
                  <a:off x="1014868" y="2322431"/>
                  <a:ext cx="5184486" cy="758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sz="1600" dirty="0">
                      <a:latin typeface="Barlow" panose="020F0502020204030204" pitchFamily="2" charset="0"/>
                    </a:rPr>
                    <a:t>Encoding</a:t>
                  </a:r>
                </a:p>
                <a:p>
                  <a:r>
                    <a:rPr lang="en-AU" sz="1600" dirty="0">
                      <a:latin typeface="Barlow" panose="020F0502020204030204" pitchFamily="2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𝑇𝑒𝑟</m:t>
                      </m:r>
                    </m:oMath>
                  </a14:m>
                  <a:r>
                    <a:rPr lang="en-AU" sz="1600" dirty="0">
                      <a:latin typeface="Barlow" panose="020F0502020204030204" pitchFamily="2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3FF50A-F49B-FAA6-7698-E3E8C57DE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868" y="2322431"/>
                  <a:ext cx="5184486" cy="758150"/>
                </a:xfrm>
                <a:prstGeom prst="rect">
                  <a:avLst/>
                </a:prstGeom>
                <a:blipFill>
                  <a:blip r:embed="rId6"/>
                  <a:stretch>
                    <a:fillRect l="-878" t="-3000" b="-110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1762AE2-3E44-D0D1-FBC9-4EE46D573ED4}"/>
                </a:ext>
              </a:extLst>
            </p:cNvPr>
            <p:cNvCxnSpPr/>
            <p:nvPr/>
          </p:nvCxnSpPr>
          <p:spPr>
            <a:xfrm flipV="1">
              <a:off x="2302443" y="2582466"/>
              <a:ext cx="1929951" cy="13050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A817CFB-73EF-DBF5-35F8-0BCD4ABFCBEB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72" y="1769931"/>
              <a:ext cx="0" cy="4404287"/>
            </a:xfrm>
            <a:prstGeom prst="straightConnector1">
              <a:avLst/>
            </a:prstGeom>
            <a:ln w="38100"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A8CC31-02A8-14BB-1F10-EDDEB2BE769B}"/>
                  </a:ext>
                </a:extLst>
              </p:cNvPr>
              <p:cNvSpPr txBox="1"/>
              <p:nvPr/>
            </p:nvSpPr>
            <p:spPr>
              <a:xfrm>
                <a:off x="2844223" y="2469197"/>
                <a:ext cx="19779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Barlow" panose="00000500000000000000" pitchFamily="2" charset="0"/>
                  </a:rPr>
                  <a:t>Drift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AU" sz="1600" dirty="0">
                    <a:latin typeface="Barlow" panose="00000500000000000000" pitchFamily="2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sz="1600" dirty="0">
                  <a:latin typeface="Barlow" panose="00000500000000000000" pitchFamily="2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+1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−1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AU" sz="1600" dirty="0">
                  <a:latin typeface="Barlow" panose="00000500000000000000" pitchFamily="2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A8CC31-02A8-14BB-1F10-EDDEB2BE7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223" y="2469197"/>
                <a:ext cx="1977958" cy="584775"/>
              </a:xfrm>
              <a:prstGeom prst="rect">
                <a:avLst/>
              </a:prstGeom>
              <a:blipFill>
                <a:blip r:embed="rId7"/>
                <a:stretch>
                  <a:fillRect l="-1852" t="-3125" r="-2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0177689-4C5F-7257-2A68-1026896B06D4}"/>
              </a:ext>
            </a:extLst>
          </p:cNvPr>
          <p:cNvSpPr/>
          <p:nvPr/>
        </p:nvSpPr>
        <p:spPr>
          <a:xfrm>
            <a:off x="6249481" y="1094244"/>
            <a:ext cx="5444463" cy="517234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E33834-2578-6871-3414-A5B640F4FB51}"/>
              </a:ext>
            </a:extLst>
          </p:cNvPr>
          <p:cNvSpPr txBox="1">
            <a:spLocks/>
          </p:cNvSpPr>
          <p:nvPr/>
        </p:nvSpPr>
        <p:spPr>
          <a:xfrm>
            <a:off x="6954345" y="1011580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estimates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8">
                <a:extLst>
                  <a:ext uri="{FF2B5EF4-FFF2-40B4-BE49-F238E27FC236}">
                    <a16:creationId xmlns:a16="http://schemas.microsoft.com/office/drawing/2014/main" id="{215CCBB3-ECEA-378F-20C5-CAF395F280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7939" y="1479811"/>
                <a:ext cx="5842885" cy="39438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Truth signal 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0.27 [0.21, 0.33]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(Neutral − Clickbait): 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0.13 [0.01, 0.24]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Starting point intercept (logit scale):</a:t>
                </a:r>
                <a:b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−0.04 [−0.10, 0.03] → z ≈ 0.49 (near unbiased)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log(a) = 1.21 [1.16, 1.26] → a ≈ 3.35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log(t₀) = −0.59 [−0.84, −0.35] → t₀ ≈ 0.55 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Content Placeholder 8">
                <a:extLst>
                  <a:ext uri="{FF2B5EF4-FFF2-40B4-BE49-F238E27FC236}">
                    <a16:creationId xmlns:a16="http://schemas.microsoft.com/office/drawing/2014/main" id="{215CCBB3-ECEA-378F-20C5-CAF395F28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39" y="1479811"/>
                <a:ext cx="5842885" cy="3943838"/>
              </a:xfrm>
              <a:prstGeom prst="rect">
                <a:avLst/>
              </a:prstGeom>
              <a:blipFill>
                <a:blip r:embed="rId8"/>
                <a:stretch>
                  <a:fillRect l="-1356" t="-2782" b="-27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000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DB59-41E1-3306-0B16-58058D90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4C5D9F27-D715-B529-0DF0-E73E7F0BFF59}"/>
              </a:ext>
            </a:extLst>
          </p:cNvPr>
          <p:cNvSpPr txBox="1">
            <a:spLocks/>
          </p:cNvSpPr>
          <p:nvPr/>
        </p:nvSpPr>
        <p:spPr>
          <a:xfrm>
            <a:off x="346601" y="81545"/>
            <a:ext cx="11498797" cy="1858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response-coded DDM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Headline style mostly changes the quality of evidence people draw on.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0C79E1-70BB-38A5-F2F4-6D538D620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39" y="1119726"/>
            <a:ext cx="5780112" cy="335833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2228F84-BB0A-7F17-7403-360A16640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1" t="39454" r="2831" b="20822"/>
          <a:stretch>
            <a:fillRect/>
          </a:stretch>
        </p:blipFill>
        <p:spPr>
          <a:xfrm>
            <a:off x="808078" y="5018567"/>
            <a:ext cx="4774019" cy="156298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2BFF7FB-6A17-AE41-7838-9C3945AD0FC9}"/>
              </a:ext>
            </a:extLst>
          </p:cNvPr>
          <p:cNvGrpSpPr/>
          <p:nvPr/>
        </p:nvGrpSpPr>
        <p:grpSpPr>
          <a:xfrm>
            <a:off x="5933820" y="4662353"/>
            <a:ext cx="5198467" cy="2185014"/>
            <a:chOff x="5733367" y="4408858"/>
            <a:chExt cx="5888748" cy="229323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9D20CF9-A80F-3719-00B0-F3C1DDFF6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113"/>
            <a:stretch>
              <a:fillRect/>
            </a:stretch>
          </p:blipFill>
          <p:spPr>
            <a:xfrm>
              <a:off x="5733367" y="4408858"/>
              <a:ext cx="5888748" cy="2293239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6B4072-37D3-E02B-743C-4E5E89F2E0EC}"/>
                </a:ext>
              </a:extLst>
            </p:cNvPr>
            <p:cNvSpPr/>
            <p:nvPr/>
          </p:nvSpPr>
          <p:spPr>
            <a:xfrm>
              <a:off x="7538484" y="4408858"/>
              <a:ext cx="3019646" cy="2588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3C6027D4-147B-1F8E-CB6A-D5F9C3183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60" y="1131366"/>
            <a:ext cx="5715000" cy="3309402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058375-D595-D75B-9CD2-CD48E067C01A}"/>
              </a:ext>
            </a:extLst>
          </p:cNvPr>
          <p:cNvCxnSpPr/>
          <p:nvPr/>
        </p:nvCxnSpPr>
        <p:spPr>
          <a:xfrm flipV="1">
            <a:off x="6679096" y="1400716"/>
            <a:ext cx="0" cy="2568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2BFAA03-30F9-C2DC-8127-0AFA86E2EDB9}"/>
              </a:ext>
            </a:extLst>
          </p:cNvPr>
          <p:cNvSpPr/>
          <p:nvPr/>
        </p:nvSpPr>
        <p:spPr>
          <a:xfrm>
            <a:off x="808078" y="5018567"/>
            <a:ext cx="4774019" cy="15629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3625FC93-21D1-0043-90BC-FFE05A8BB956}"/>
              </a:ext>
            </a:extLst>
          </p:cNvPr>
          <p:cNvSpPr txBox="1">
            <a:spLocks/>
          </p:cNvSpPr>
          <p:nvPr/>
        </p:nvSpPr>
        <p:spPr>
          <a:xfrm>
            <a:off x="-131186" y="4603501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4CB374B4-3C5D-7A07-9C63-899165479F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5813" y="4603501"/>
                <a:ext cx="4034734" cy="8301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(mean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SD)</a:t>
                </a:r>
              </a:p>
              <a:p>
                <a:pPr algn="ctr"/>
                <a:endParaRPr lang="en-AU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itle 1">
                <a:extLst>
                  <a:ext uri="{FF2B5EF4-FFF2-40B4-BE49-F238E27FC236}">
                    <a16:creationId xmlns:a16="http://schemas.microsoft.com/office/drawing/2014/main" id="{4CB374B4-3C5D-7A07-9C63-899165479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13" y="4603501"/>
                <a:ext cx="4034734" cy="8301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D5D5D411-A86D-FE59-24C3-063C580CEBCD}"/>
              </a:ext>
            </a:extLst>
          </p:cNvPr>
          <p:cNvSpPr/>
          <p:nvPr/>
        </p:nvSpPr>
        <p:spPr>
          <a:xfrm>
            <a:off x="691116" y="4906438"/>
            <a:ext cx="527903" cy="1870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10B737C8-5EFF-999F-B74E-467137178B9E}"/>
              </a:ext>
            </a:extLst>
          </p:cNvPr>
          <p:cNvSpPr txBox="1">
            <a:spLocks/>
          </p:cNvSpPr>
          <p:nvPr/>
        </p:nvSpPr>
        <p:spPr>
          <a:xfrm>
            <a:off x="-372" y="4906438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RT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0A952C39-9B2A-2320-8950-517BFD86C764}"/>
              </a:ext>
            </a:extLst>
          </p:cNvPr>
          <p:cNvSpPr txBox="1">
            <a:spLocks/>
          </p:cNvSpPr>
          <p:nvPr/>
        </p:nvSpPr>
        <p:spPr>
          <a:xfrm>
            <a:off x="0" y="5229064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RT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FACFE7DD-162F-1C1D-B41E-5B470947C1FA}"/>
              </a:ext>
            </a:extLst>
          </p:cNvPr>
          <p:cNvSpPr txBox="1">
            <a:spLocks/>
          </p:cNvSpPr>
          <p:nvPr/>
        </p:nvSpPr>
        <p:spPr>
          <a:xfrm>
            <a:off x="0" y="5560643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RT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7935FCB7-0BDA-7068-756F-621F0AF22590}"/>
              </a:ext>
            </a:extLst>
          </p:cNvPr>
          <p:cNvSpPr txBox="1">
            <a:spLocks/>
          </p:cNvSpPr>
          <p:nvPr/>
        </p:nvSpPr>
        <p:spPr>
          <a:xfrm>
            <a:off x="-372" y="5880596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RT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9593AD6-EA0F-D608-F7C7-54C4E70839E4}"/>
              </a:ext>
            </a:extLst>
          </p:cNvPr>
          <p:cNvSpPr txBox="1">
            <a:spLocks/>
          </p:cNvSpPr>
          <p:nvPr/>
        </p:nvSpPr>
        <p:spPr>
          <a:xfrm>
            <a:off x="0" y="6186206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RT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A8C7CBE-8A27-8B49-7D61-A9AFB3017399}"/>
              </a:ext>
            </a:extLst>
          </p:cNvPr>
          <p:cNvCxnSpPr>
            <a:cxnSpLocks/>
          </p:cNvCxnSpPr>
          <p:nvPr/>
        </p:nvCxnSpPr>
        <p:spPr>
          <a:xfrm flipV="1">
            <a:off x="1240285" y="5018567"/>
            <a:ext cx="0" cy="1573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itle 1">
            <a:extLst>
              <a:ext uri="{FF2B5EF4-FFF2-40B4-BE49-F238E27FC236}">
                <a16:creationId xmlns:a16="http://schemas.microsoft.com/office/drawing/2014/main" id="{6A24A86D-BF30-CB09-7B2F-4C7BBB1F2494}"/>
              </a:ext>
            </a:extLst>
          </p:cNvPr>
          <p:cNvSpPr txBox="1">
            <a:spLocks/>
          </p:cNvSpPr>
          <p:nvPr/>
        </p:nvSpPr>
        <p:spPr>
          <a:xfrm>
            <a:off x="6842815" y="4510253"/>
            <a:ext cx="4034734" cy="830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(LOO-CV)</a:t>
            </a:r>
          </a:p>
          <a:p>
            <a:pPr algn="ctr"/>
            <a:endParaRPr lang="en-A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81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4115</TotalTime>
  <Words>778</Words>
  <Application>Microsoft Office PowerPoint</Application>
  <PresentationFormat>Widescreen</PresentationFormat>
  <Paragraphs>189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Barlow</vt:lpstr>
      <vt:lpstr>Calibri</vt:lpstr>
      <vt:lpstr>Calibri Light</vt:lpstr>
      <vt:lpstr>Cambria Math</vt:lpstr>
      <vt:lpstr>Times New Roman</vt:lpstr>
      <vt:lpstr>Office Theme</vt:lpstr>
      <vt:lpstr>Clickbait nudges social media away from accuracy and toward partisan bias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Fletcher Scott</dc:creator>
  <cp:lastModifiedBy>Fletcher Scott</cp:lastModifiedBy>
  <cp:revision>62</cp:revision>
  <dcterms:created xsi:type="dcterms:W3CDTF">2026-02-10T02:00:40Z</dcterms:created>
  <dcterms:modified xsi:type="dcterms:W3CDTF">2026-02-22T10:18:37Z</dcterms:modified>
</cp:coreProperties>
</file>